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League Spartan" charset="1" panose="00000800000000000000"/>
      <p:regular r:id="rId41"/>
    </p:embeddedFont>
    <p:embeddedFont>
      <p:font typeface="Canva Sans" charset="1" panose="020B0503030501040103"/>
      <p:regular r:id="rId42"/>
    </p:embeddedFont>
    <p:embeddedFont>
      <p:font typeface="Canva Sans Bold" charset="1" panose="020B0803030501040103"/>
      <p:regular r:id="rId43"/>
    </p:embeddedFont>
    <p:embeddedFont>
      <p:font typeface="Canva Sans Bold Italics" charset="1" panose="020B0803030501040103"/>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3.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2543215" y="0"/>
            <a:ext cx="5744785" cy="10287000"/>
            <a:chOff x="0" y="0"/>
            <a:chExt cx="1513030" cy="2709333"/>
          </a:xfrm>
        </p:grpSpPr>
        <p:sp>
          <p:nvSpPr>
            <p:cNvPr name="Freeform 4" id="4"/>
            <p:cNvSpPr/>
            <p:nvPr/>
          </p:nvSpPr>
          <p:spPr>
            <a:xfrm flipH="false" flipV="false" rot="0">
              <a:off x="0" y="0"/>
              <a:ext cx="1513030" cy="2709333"/>
            </a:xfrm>
            <a:custGeom>
              <a:avLst/>
              <a:gdLst/>
              <a:ahLst/>
              <a:cxnLst/>
              <a:rect r="r" b="b" t="t" l="l"/>
              <a:pathLst>
                <a:path h="2709333" w="1513030">
                  <a:moveTo>
                    <a:pt x="0" y="0"/>
                  </a:moveTo>
                  <a:lnTo>
                    <a:pt x="1513030" y="0"/>
                  </a:lnTo>
                  <a:lnTo>
                    <a:pt x="1513030" y="2709333"/>
                  </a:lnTo>
                  <a:lnTo>
                    <a:pt x="0" y="2709333"/>
                  </a:lnTo>
                  <a:close/>
                </a:path>
              </a:pathLst>
            </a:custGeom>
            <a:gradFill rotWithShape="true">
              <a:gsLst>
                <a:gs pos="0">
                  <a:srgbClr val="000000">
                    <a:alpha val="100000"/>
                  </a:srgbClr>
                </a:gs>
                <a:gs pos="100000">
                  <a:srgbClr val="000000">
                    <a:alpha val="0"/>
                  </a:srgbClr>
                </a:gs>
              </a:gsLst>
              <a:lin ang="0"/>
            </a:gradFill>
          </p:spPr>
        </p:sp>
        <p:sp>
          <p:nvSpPr>
            <p:cNvPr name="TextBox 5" id="5"/>
            <p:cNvSpPr txBox="true"/>
            <p:nvPr/>
          </p:nvSpPr>
          <p:spPr>
            <a:xfrm>
              <a:off x="0" y="-38100"/>
              <a:ext cx="1513030"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10800000">
            <a:off x="12543215" y="0"/>
            <a:ext cx="5744785" cy="10287000"/>
            <a:chOff x="0" y="0"/>
            <a:chExt cx="1513030" cy="2709333"/>
          </a:xfrm>
        </p:grpSpPr>
        <p:sp>
          <p:nvSpPr>
            <p:cNvPr name="Freeform 7" id="7"/>
            <p:cNvSpPr/>
            <p:nvPr/>
          </p:nvSpPr>
          <p:spPr>
            <a:xfrm flipH="false" flipV="false" rot="0">
              <a:off x="0" y="0"/>
              <a:ext cx="1513030" cy="2709333"/>
            </a:xfrm>
            <a:custGeom>
              <a:avLst/>
              <a:gdLst/>
              <a:ahLst/>
              <a:cxnLst/>
              <a:rect r="r" b="b" t="t" l="l"/>
              <a:pathLst>
                <a:path h="2709333" w="1513030">
                  <a:moveTo>
                    <a:pt x="0" y="0"/>
                  </a:moveTo>
                  <a:lnTo>
                    <a:pt x="1513030" y="0"/>
                  </a:lnTo>
                  <a:lnTo>
                    <a:pt x="1513030" y="2709333"/>
                  </a:lnTo>
                  <a:lnTo>
                    <a:pt x="0" y="2709333"/>
                  </a:lnTo>
                  <a:close/>
                </a:path>
              </a:pathLst>
            </a:custGeom>
            <a:gradFill rotWithShape="true">
              <a:gsLst>
                <a:gs pos="0">
                  <a:srgbClr val="000000">
                    <a:alpha val="100000"/>
                  </a:srgbClr>
                </a:gs>
                <a:gs pos="100000">
                  <a:srgbClr val="000000">
                    <a:alpha val="0"/>
                  </a:srgbClr>
                </a:gs>
              </a:gsLst>
              <a:lin ang="0"/>
            </a:gradFill>
          </p:spPr>
        </p:sp>
        <p:sp>
          <p:nvSpPr>
            <p:cNvPr name="TextBox 8" id="8"/>
            <p:cNvSpPr txBox="true"/>
            <p:nvPr/>
          </p:nvSpPr>
          <p:spPr>
            <a:xfrm>
              <a:off x="0" y="-38100"/>
              <a:ext cx="1513030" cy="2747433"/>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028700" y="9248775"/>
            <a:ext cx="6761296" cy="9525"/>
          </a:xfrm>
          <a:prstGeom prst="line">
            <a:avLst/>
          </a:prstGeom>
          <a:ln cap="flat" w="19050">
            <a:solidFill>
              <a:srgbClr val="000000"/>
            </a:solidFill>
            <a:prstDash val="solid"/>
            <a:headEnd type="none" len="sm" w="sm"/>
            <a:tailEnd type="none" len="sm" w="sm"/>
          </a:ln>
        </p:spPr>
      </p:sp>
      <p:sp>
        <p:nvSpPr>
          <p:cNvPr name="TextBox 10" id="10"/>
          <p:cNvSpPr txBox="true"/>
          <p:nvPr/>
        </p:nvSpPr>
        <p:spPr>
          <a:xfrm rot="0">
            <a:off x="3117597" y="4271556"/>
            <a:ext cx="5703532" cy="1167727"/>
          </a:xfrm>
          <a:prstGeom prst="rect">
            <a:avLst/>
          </a:prstGeom>
        </p:spPr>
        <p:txBody>
          <a:bodyPr anchor="t" rtlCol="false" tIns="0" lIns="0" bIns="0" rIns="0">
            <a:spAutoFit/>
          </a:bodyPr>
          <a:lstStyle/>
          <a:p>
            <a:pPr algn="l">
              <a:lnSpc>
                <a:spcPts val="9660"/>
              </a:lnSpc>
              <a:spcBef>
                <a:spcPct val="0"/>
              </a:spcBef>
            </a:pPr>
            <a:r>
              <a:rPr lang="en-US" sz="6900">
                <a:solidFill>
                  <a:srgbClr val="000000"/>
                </a:solidFill>
                <a:latin typeface="League Spartan"/>
                <a:ea typeface="League Spartan"/>
                <a:cs typeface="League Spartan"/>
                <a:sym typeface="League Spartan"/>
              </a:rPr>
              <a:t>R</a:t>
            </a:r>
            <a:r>
              <a:rPr lang="en-US" sz="6900">
                <a:solidFill>
                  <a:srgbClr val="000000"/>
                </a:solidFill>
                <a:latin typeface="League Spartan"/>
                <a:ea typeface="League Spartan"/>
                <a:cs typeface="League Spartan"/>
                <a:sym typeface="League Spartan"/>
              </a:rPr>
              <a:t>ecognition</a:t>
            </a:r>
          </a:p>
        </p:txBody>
      </p:sp>
      <p:sp>
        <p:nvSpPr>
          <p:cNvPr name="TextBox 11" id="11"/>
          <p:cNvSpPr txBox="true"/>
          <p:nvPr/>
        </p:nvSpPr>
        <p:spPr>
          <a:xfrm rot="0">
            <a:off x="1028700" y="2379756"/>
            <a:ext cx="3808977" cy="1167899"/>
          </a:xfrm>
          <a:prstGeom prst="rect">
            <a:avLst/>
          </a:prstGeom>
        </p:spPr>
        <p:txBody>
          <a:bodyPr anchor="t" rtlCol="false" tIns="0" lIns="0" bIns="0" rIns="0">
            <a:spAutoFit/>
          </a:bodyPr>
          <a:lstStyle/>
          <a:p>
            <a:pPr algn="l">
              <a:lnSpc>
                <a:spcPts val="9654"/>
              </a:lnSpc>
              <a:spcBef>
                <a:spcPct val="0"/>
              </a:spcBef>
            </a:pPr>
            <a:r>
              <a:rPr lang="en-US" sz="6896">
                <a:solidFill>
                  <a:srgbClr val="000000"/>
                </a:solidFill>
                <a:latin typeface="League Spartan"/>
                <a:ea typeface="League Spartan"/>
                <a:cs typeface="League Spartan"/>
                <a:sym typeface="League Spartan"/>
              </a:rPr>
              <a:t>F</a:t>
            </a:r>
            <a:r>
              <a:rPr lang="en-US" sz="6896">
                <a:solidFill>
                  <a:srgbClr val="000000"/>
                </a:solidFill>
                <a:latin typeface="League Spartan"/>
                <a:ea typeface="League Spartan"/>
                <a:cs typeface="League Spartan"/>
                <a:sym typeface="League Spartan"/>
              </a:rPr>
              <a:t>acial</a:t>
            </a:r>
          </a:p>
        </p:txBody>
      </p:sp>
      <p:sp>
        <p:nvSpPr>
          <p:cNvPr name="TextBox 12" id="12"/>
          <p:cNvSpPr txBox="true"/>
          <p:nvPr/>
        </p:nvSpPr>
        <p:spPr>
          <a:xfrm rot="0">
            <a:off x="1664131" y="3337210"/>
            <a:ext cx="6888891" cy="1167828"/>
          </a:xfrm>
          <a:prstGeom prst="rect">
            <a:avLst/>
          </a:prstGeom>
        </p:spPr>
        <p:txBody>
          <a:bodyPr anchor="t" rtlCol="false" tIns="0" lIns="0" bIns="0" rIns="0">
            <a:spAutoFit/>
          </a:bodyPr>
          <a:lstStyle/>
          <a:p>
            <a:pPr algn="l">
              <a:lnSpc>
                <a:spcPts val="9654"/>
              </a:lnSpc>
              <a:spcBef>
                <a:spcPct val="0"/>
              </a:spcBef>
            </a:pPr>
            <a:r>
              <a:rPr lang="en-US" sz="6896">
                <a:solidFill>
                  <a:srgbClr val="000000"/>
                </a:solidFill>
                <a:latin typeface="League Spartan"/>
                <a:ea typeface="League Spartan"/>
                <a:cs typeface="League Spartan"/>
                <a:sym typeface="League Spartan"/>
              </a:rPr>
              <a:t>Expression</a:t>
            </a:r>
          </a:p>
        </p:txBody>
      </p:sp>
      <p:sp>
        <p:nvSpPr>
          <p:cNvPr name="TextBox 13" id="13"/>
          <p:cNvSpPr txBox="true"/>
          <p:nvPr/>
        </p:nvSpPr>
        <p:spPr>
          <a:xfrm rot="0">
            <a:off x="3646083" y="5885047"/>
            <a:ext cx="2617383" cy="511849"/>
          </a:xfrm>
          <a:prstGeom prst="rect">
            <a:avLst/>
          </a:prstGeom>
        </p:spPr>
        <p:txBody>
          <a:bodyPr anchor="t" rtlCol="false" tIns="0" lIns="0" bIns="0" rIns="0">
            <a:spAutoFit/>
          </a:bodyPr>
          <a:lstStyle/>
          <a:p>
            <a:pPr algn="l">
              <a:lnSpc>
                <a:spcPts val="4339"/>
              </a:lnSpc>
              <a:spcBef>
                <a:spcPct val="0"/>
              </a:spcBef>
            </a:pPr>
            <a:r>
              <a:rPr lang="en-US" sz="3099">
                <a:solidFill>
                  <a:srgbClr val="000000"/>
                </a:solidFill>
                <a:latin typeface="Canva Sans"/>
                <a:ea typeface="Canva Sans"/>
                <a:cs typeface="Canva Sans"/>
                <a:sym typeface="Canva Sans"/>
              </a:rPr>
              <a:t>Nhóm 11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8529229" y="2335220"/>
            <a:ext cx="2588589" cy="6923080"/>
            <a:chOff x="0" y="0"/>
            <a:chExt cx="681768" cy="1823363"/>
          </a:xfrm>
        </p:grpSpPr>
        <p:sp>
          <p:nvSpPr>
            <p:cNvPr name="Freeform 3" id="3"/>
            <p:cNvSpPr/>
            <p:nvPr/>
          </p:nvSpPr>
          <p:spPr>
            <a:xfrm flipH="false" flipV="false" rot="0">
              <a:off x="0" y="0"/>
              <a:ext cx="681768" cy="1823363"/>
            </a:xfrm>
            <a:custGeom>
              <a:avLst/>
              <a:gdLst/>
              <a:ahLst/>
              <a:cxnLst/>
              <a:rect r="r" b="b" t="t" l="l"/>
              <a:pathLst>
                <a:path h="1823363" w="681768">
                  <a:moveTo>
                    <a:pt x="0" y="0"/>
                  </a:moveTo>
                  <a:lnTo>
                    <a:pt x="681768" y="0"/>
                  </a:lnTo>
                  <a:lnTo>
                    <a:pt x="681768" y="1823363"/>
                  </a:lnTo>
                  <a:lnTo>
                    <a:pt x="0" y="1823363"/>
                  </a:lnTo>
                  <a:close/>
                </a:path>
              </a:pathLst>
            </a:custGeom>
            <a:gradFill rotWithShape="true">
              <a:gsLst>
                <a:gs pos="0">
                  <a:srgbClr val="EEEEEE">
                    <a:alpha val="100000"/>
                  </a:srgbClr>
                </a:gs>
                <a:gs pos="100000">
                  <a:srgbClr val="EEEEEE">
                    <a:alpha val="0"/>
                  </a:srgbClr>
                </a:gs>
              </a:gsLst>
              <a:lin ang="0"/>
            </a:gradFill>
          </p:spPr>
        </p:sp>
        <p:sp>
          <p:nvSpPr>
            <p:cNvPr name="TextBox 4" id="4"/>
            <p:cNvSpPr txBox="true"/>
            <p:nvPr/>
          </p:nvSpPr>
          <p:spPr>
            <a:xfrm>
              <a:off x="0" y="-38100"/>
              <a:ext cx="681768" cy="186146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819706" y="8849671"/>
            <a:ext cx="709523" cy="709523"/>
          </a:xfrm>
          <a:custGeom>
            <a:avLst/>
            <a:gdLst/>
            <a:ahLst/>
            <a:cxnLst/>
            <a:rect r="r" b="b" t="t" l="l"/>
            <a:pathLst>
              <a:path h="709523" w="709523">
                <a:moveTo>
                  <a:pt x="0" y="0"/>
                </a:moveTo>
                <a:lnTo>
                  <a:pt x="709523" y="0"/>
                </a:lnTo>
                <a:lnTo>
                  <a:pt x="709523"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028713" y="5114489"/>
            <a:ext cx="6490866" cy="29011"/>
          </a:xfrm>
          <a:prstGeom prst="line">
            <a:avLst/>
          </a:prstGeom>
          <a:ln cap="flat" w="19050">
            <a:solidFill>
              <a:srgbClr val="000000"/>
            </a:solidFill>
            <a:prstDash val="solid"/>
            <a:headEnd type="none" len="sm" w="sm"/>
            <a:tailEnd type="none" len="sm" w="sm"/>
          </a:ln>
        </p:spPr>
      </p:sp>
      <p:sp>
        <p:nvSpPr>
          <p:cNvPr name="Freeform 7" id="7"/>
          <p:cNvSpPr/>
          <p:nvPr/>
        </p:nvSpPr>
        <p:spPr>
          <a:xfrm flipH="false" flipV="false" rot="0">
            <a:off x="8529229" y="1877229"/>
            <a:ext cx="9601056" cy="5560119"/>
          </a:xfrm>
          <a:custGeom>
            <a:avLst/>
            <a:gdLst/>
            <a:ahLst/>
            <a:cxnLst/>
            <a:rect r="r" b="b" t="t" l="l"/>
            <a:pathLst>
              <a:path h="5560119" w="9601056">
                <a:moveTo>
                  <a:pt x="0" y="0"/>
                </a:moveTo>
                <a:lnTo>
                  <a:pt x="9601056" y="0"/>
                </a:lnTo>
                <a:lnTo>
                  <a:pt x="9601056" y="5560119"/>
                </a:lnTo>
                <a:lnTo>
                  <a:pt x="0" y="5560119"/>
                </a:lnTo>
                <a:lnTo>
                  <a:pt x="0" y="0"/>
                </a:lnTo>
                <a:close/>
              </a:path>
            </a:pathLst>
          </a:custGeom>
          <a:blipFill>
            <a:blip r:embed="rId4"/>
            <a:stretch>
              <a:fillRect l="0" t="0" r="0" b="-7750"/>
            </a:stretch>
          </a:blipFill>
        </p:spPr>
      </p:sp>
      <p:sp>
        <p:nvSpPr>
          <p:cNvPr name="TextBox 8" id="8"/>
          <p:cNvSpPr txBox="true"/>
          <p:nvPr/>
        </p:nvSpPr>
        <p:spPr>
          <a:xfrm rot="0">
            <a:off x="1028700" y="5234709"/>
            <a:ext cx="7245259" cy="3614961"/>
          </a:xfrm>
          <a:prstGeom prst="rect">
            <a:avLst/>
          </a:prstGeom>
        </p:spPr>
        <p:txBody>
          <a:bodyPr anchor="t" rtlCol="false" tIns="0" lIns="0" bIns="0" rIns="0">
            <a:spAutoFit/>
          </a:bodyPr>
          <a:lstStyle/>
          <a:p>
            <a:pPr algn="l">
              <a:lnSpc>
                <a:spcPts val="5179"/>
              </a:lnSpc>
            </a:pPr>
            <a:r>
              <a:rPr lang="en-US" sz="3699">
                <a:solidFill>
                  <a:srgbClr val="000000"/>
                </a:solidFill>
                <a:latin typeface="Canva Sans"/>
                <a:ea typeface="Canva Sans"/>
                <a:cs typeface="Canva Sans"/>
                <a:sym typeface="Canva Sans"/>
              </a:rPr>
              <a:t>3122410004- Nguyễn Văn An</a:t>
            </a:r>
          </a:p>
          <a:p>
            <a:pPr algn="l">
              <a:lnSpc>
                <a:spcPts val="5179"/>
              </a:lnSpc>
            </a:pPr>
          </a:p>
          <a:p>
            <a:pPr algn="l">
              <a:lnSpc>
                <a:spcPts val="5179"/>
              </a:lnSpc>
            </a:pPr>
            <a:r>
              <a:rPr lang="en-US" sz="3699">
                <a:solidFill>
                  <a:srgbClr val="000000"/>
                </a:solidFill>
                <a:latin typeface="Canva Sans"/>
                <a:ea typeface="Canva Sans"/>
                <a:cs typeface="Canva Sans"/>
                <a:sym typeface="Canva Sans"/>
              </a:rPr>
              <a:t>3122410294- Lý Minh Phát</a:t>
            </a:r>
          </a:p>
          <a:p>
            <a:pPr algn="l">
              <a:lnSpc>
                <a:spcPts val="5179"/>
              </a:lnSpc>
            </a:pPr>
          </a:p>
          <a:p>
            <a:pPr algn="l">
              <a:lnSpc>
                <a:spcPts val="5179"/>
              </a:lnSpc>
              <a:spcBef>
                <a:spcPct val="0"/>
              </a:spcBef>
            </a:pPr>
            <a:r>
              <a:rPr lang="en-US" sz="3699">
                <a:solidFill>
                  <a:srgbClr val="000000"/>
                </a:solidFill>
                <a:latin typeface="Canva Sans"/>
                <a:ea typeface="Canva Sans"/>
                <a:cs typeface="Canva Sans"/>
                <a:sym typeface="Canva Sans"/>
              </a:rPr>
              <a:t>3122410247</a:t>
            </a:r>
            <a:r>
              <a:rPr lang="en-US" sz="3699">
                <a:solidFill>
                  <a:srgbClr val="000000"/>
                </a:solidFill>
                <a:latin typeface="Canva Sans"/>
                <a:ea typeface="Canva Sans"/>
                <a:cs typeface="Canva Sans"/>
                <a:sym typeface="Canva Sans"/>
              </a:rPr>
              <a:t> -Lê Quốc Nam</a:t>
            </a:r>
          </a:p>
          <a:p>
            <a:pPr algn="l">
              <a:lnSpc>
                <a:spcPts val="2659"/>
              </a:lnSpc>
              <a:spcBef>
                <a:spcPct val="0"/>
              </a:spcBef>
            </a:pPr>
          </a:p>
        </p:txBody>
      </p:sp>
      <p:sp>
        <p:nvSpPr>
          <p:cNvPr name="TextBox 9" id="9"/>
          <p:cNvSpPr txBox="true"/>
          <p:nvPr/>
        </p:nvSpPr>
        <p:spPr>
          <a:xfrm rot="0">
            <a:off x="1028700" y="2201870"/>
            <a:ext cx="7500529" cy="2455301"/>
          </a:xfrm>
          <a:prstGeom prst="rect">
            <a:avLst/>
          </a:prstGeom>
        </p:spPr>
        <p:txBody>
          <a:bodyPr anchor="t" rtlCol="false" tIns="0" lIns="0" bIns="0" rIns="0">
            <a:spAutoFit/>
          </a:bodyPr>
          <a:lstStyle/>
          <a:p>
            <a:pPr algn="l">
              <a:lnSpc>
                <a:spcPts val="9861"/>
              </a:lnSpc>
              <a:spcBef>
                <a:spcPct val="0"/>
              </a:spcBef>
            </a:pPr>
            <a:r>
              <a:rPr lang="en-US" sz="7043">
                <a:solidFill>
                  <a:srgbClr val="000000"/>
                </a:solidFill>
                <a:latin typeface="League Spartan"/>
                <a:ea typeface="League Spartan"/>
                <a:cs typeface="League Spartan"/>
                <a:sym typeface="League Spartan"/>
              </a:rPr>
              <a:t>Thành viên nhóm</a:t>
            </a:r>
          </a:p>
        </p:txBody>
      </p:sp>
      <p:sp>
        <p:nvSpPr>
          <p:cNvPr name="TextBox 10" id="10"/>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8328355" y="3461160"/>
            <a:ext cx="9280115" cy="4122089"/>
            <a:chOff x="0" y="0"/>
            <a:chExt cx="1528212" cy="678809"/>
          </a:xfrm>
        </p:grpSpPr>
        <p:sp>
          <p:nvSpPr>
            <p:cNvPr name="Freeform 3" id="3"/>
            <p:cNvSpPr/>
            <p:nvPr/>
          </p:nvSpPr>
          <p:spPr>
            <a:xfrm flipH="false" flipV="false" rot="0">
              <a:off x="0" y="0"/>
              <a:ext cx="1528212" cy="678809"/>
            </a:xfrm>
            <a:custGeom>
              <a:avLst/>
              <a:gdLst/>
              <a:ahLst/>
              <a:cxnLst/>
              <a:rect r="r" b="b" t="t" l="l"/>
              <a:pathLst>
                <a:path h="678809" w="1528212">
                  <a:moveTo>
                    <a:pt x="0" y="0"/>
                  </a:moveTo>
                  <a:lnTo>
                    <a:pt x="1528212" y="0"/>
                  </a:lnTo>
                  <a:lnTo>
                    <a:pt x="1528212" y="678809"/>
                  </a:lnTo>
                  <a:lnTo>
                    <a:pt x="0" y="678809"/>
                  </a:lnTo>
                  <a:close/>
                </a:path>
              </a:pathLst>
            </a:custGeom>
            <a:blipFill>
              <a:blip r:embed="rId2"/>
              <a:stretch>
                <a:fillRect l="0" t="-25112" r="0" b="-25112"/>
              </a:stretch>
            </a:blipFill>
          </p:spPr>
        </p:sp>
      </p:grpSp>
      <p:grpSp>
        <p:nvGrpSpPr>
          <p:cNvPr name="Group 4" id="4"/>
          <p:cNvGrpSpPr/>
          <p:nvPr/>
        </p:nvGrpSpPr>
        <p:grpSpPr>
          <a:xfrm rot="5400000">
            <a:off x="12293995" y="-504480"/>
            <a:ext cx="2028366" cy="9959645"/>
            <a:chOff x="0" y="0"/>
            <a:chExt cx="534220" cy="2623116"/>
          </a:xfrm>
        </p:grpSpPr>
        <p:sp>
          <p:nvSpPr>
            <p:cNvPr name="Freeform 5" id="5"/>
            <p:cNvSpPr/>
            <p:nvPr/>
          </p:nvSpPr>
          <p:spPr>
            <a:xfrm flipH="false" flipV="false" rot="0">
              <a:off x="0" y="0"/>
              <a:ext cx="534220" cy="2623116"/>
            </a:xfrm>
            <a:custGeom>
              <a:avLst/>
              <a:gdLst/>
              <a:ahLst/>
              <a:cxnLst/>
              <a:rect r="r" b="b" t="t" l="l"/>
              <a:pathLst>
                <a:path h="2623116" w="534220">
                  <a:moveTo>
                    <a:pt x="0" y="0"/>
                  </a:moveTo>
                  <a:lnTo>
                    <a:pt x="534220" y="0"/>
                  </a:lnTo>
                  <a:lnTo>
                    <a:pt x="534220" y="2623116"/>
                  </a:lnTo>
                  <a:lnTo>
                    <a:pt x="0" y="2623116"/>
                  </a:lnTo>
                  <a:close/>
                </a:path>
              </a:pathLst>
            </a:custGeom>
            <a:gradFill rotWithShape="true">
              <a:gsLst>
                <a:gs pos="0">
                  <a:srgbClr val="EEEEEE">
                    <a:alpha val="100000"/>
                  </a:srgbClr>
                </a:gs>
                <a:gs pos="100000">
                  <a:srgbClr val="EEEEEE">
                    <a:alpha val="0"/>
                  </a:srgbClr>
                </a:gs>
              </a:gsLst>
              <a:lin ang="0"/>
            </a:gradFill>
            <a:ln cap="sq">
              <a:noFill/>
              <a:prstDash val="solid"/>
              <a:miter/>
            </a:ln>
          </p:spPr>
        </p:sp>
        <p:sp>
          <p:nvSpPr>
            <p:cNvPr name="TextBox 6" id="6"/>
            <p:cNvSpPr txBox="true"/>
            <p:nvPr/>
          </p:nvSpPr>
          <p:spPr>
            <a:xfrm>
              <a:off x="0" y="-38100"/>
              <a:ext cx="534220" cy="266121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7" id="7"/>
          <p:cNvSpPr/>
          <p:nvPr/>
        </p:nvSpPr>
        <p:spPr>
          <a:xfrm flipV="true">
            <a:off x="1028700" y="9248775"/>
            <a:ext cx="16230587" cy="9525"/>
          </a:xfrm>
          <a:prstGeom prst="line">
            <a:avLst/>
          </a:prstGeom>
          <a:ln cap="flat" w="19050">
            <a:solidFill>
              <a:srgbClr val="000000"/>
            </a:solidFill>
            <a:prstDash val="solid"/>
            <a:headEnd type="none" len="sm" w="sm"/>
            <a:tailEnd type="none" len="sm" w="sm"/>
          </a:ln>
        </p:spPr>
      </p:sp>
      <p:sp>
        <p:nvSpPr>
          <p:cNvPr name="TextBox 8" id="8"/>
          <p:cNvSpPr txBox="true"/>
          <p:nvPr/>
        </p:nvSpPr>
        <p:spPr>
          <a:xfrm rot="0">
            <a:off x="964272" y="3394485"/>
            <a:ext cx="5910625" cy="2980501"/>
          </a:xfrm>
          <a:prstGeom prst="rect">
            <a:avLst/>
          </a:prstGeom>
        </p:spPr>
        <p:txBody>
          <a:bodyPr anchor="t" rtlCol="false" tIns="0" lIns="0" bIns="0" rIns="0">
            <a:spAutoFit/>
          </a:bodyPr>
          <a:lstStyle/>
          <a:p>
            <a:pPr algn="l" marL="734056" indent="-367028" lvl="1">
              <a:lnSpc>
                <a:spcPts val="4759"/>
              </a:lnSpc>
              <a:buAutoNum type="arabicPeriod" startAt="1"/>
            </a:pPr>
            <a:r>
              <a:rPr lang="en-US" b="true" sz="3399">
                <a:solidFill>
                  <a:srgbClr val="000000"/>
                </a:solidFill>
                <a:latin typeface="Canva Sans Bold"/>
                <a:ea typeface="Canva Sans Bold"/>
                <a:cs typeface="Canva Sans Bold"/>
                <a:sym typeface="Canva Sans Bold"/>
              </a:rPr>
              <a:t>PHÁT BIỂU BÀI TOÁN</a:t>
            </a:r>
          </a:p>
          <a:p>
            <a:pPr algn="l" marL="734056" indent="-367028" lvl="1">
              <a:lnSpc>
                <a:spcPts val="4759"/>
              </a:lnSpc>
              <a:buAutoNum type="arabicPeriod" startAt="1"/>
            </a:pPr>
            <a:r>
              <a:rPr lang="en-US" b="true" sz="3399">
                <a:solidFill>
                  <a:srgbClr val="000000"/>
                </a:solidFill>
                <a:latin typeface="Canva Sans Bold"/>
                <a:ea typeface="Canva Sans Bold"/>
                <a:cs typeface="Canva Sans Bold"/>
                <a:sym typeface="Canva Sans Bold"/>
              </a:rPr>
              <a:t>THỬ NGHIỆM 1</a:t>
            </a:r>
          </a:p>
          <a:p>
            <a:pPr algn="l" marL="734056" indent="-367028" lvl="1">
              <a:lnSpc>
                <a:spcPts val="4759"/>
              </a:lnSpc>
              <a:buAutoNum type="arabicPeriod" startAt="1"/>
            </a:pPr>
            <a:r>
              <a:rPr lang="en-US" b="true" sz="3399">
                <a:solidFill>
                  <a:srgbClr val="000000"/>
                </a:solidFill>
                <a:latin typeface="Canva Sans Bold"/>
                <a:ea typeface="Canva Sans Bold"/>
                <a:cs typeface="Canva Sans Bold"/>
                <a:sym typeface="Canva Sans Bold"/>
              </a:rPr>
              <a:t>THỬ NGHIỆM 2</a:t>
            </a:r>
          </a:p>
          <a:p>
            <a:pPr algn="l" marL="734056" indent="-367028" lvl="1">
              <a:lnSpc>
                <a:spcPts val="4759"/>
              </a:lnSpc>
              <a:buAutoNum type="arabicPeriod" startAt="1"/>
            </a:pPr>
            <a:r>
              <a:rPr lang="en-US" b="true" sz="3399">
                <a:solidFill>
                  <a:srgbClr val="000000"/>
                </a:solidFill>
                <a:latin typeface="Canva Sans Bold"/>
                <a:ea typeface="Canva Sans Bold"/>
                <a:cs typeface="Canva Sans Bold"/>
                <a:sym typeface="Canva Sans Bold"/>
              </a:rPr>
              <a:t>THỬ NGHIỆM 3</a:t>
            </a:r>
          </a:p>
          <a:p>
            <a:pPr algn="l" marL="734056" indent="-367028" lvl="1">
              <a:lnSpc>
                <a:spcPts val="4759"/>
              </a:lnSpc>
              <a:spcBef>
                <a:spcPct val="0"/>
              </a:spcBef>
              <a:buAutoNum type="arabicPeriod" startAt="1"/>
            </a:pPr>
            <a:r>
              <a:rPr lang="en-US" b="true" sz="3399">
                <a:solidFill>
                  <a:srgbClr val="000000"/>
                </a:solidFill>
                <a:latin typeface="Canva Sans Bold"/>
                <a:ea typeface="Canva Sans Bold"/>
                <a:cs typeface="Canva Sans Bold"/>
                <a:sym typeface="Canva Sans Bold"/>
              </a:rPr>
              <a:t>SẢN PHẨM CUỐI CÙNG</a:t>
            </a:r>
          </a:p>
        </p:txBody>
      </p:sp>
      <p:sp>
        <p:nvSpPr>
          <p:cNvPr name="TextBox 9" id="9"/>
          <p:cNvSpPr txBox="true"/>
          <p:nvPr/>
        </p:nvSpPr>
        <p:spPr>
          <a:xfrm rot="0">
            <a:off x="964272" y="1536271"/>
            <a:ext cx="11295349" cy="1300387"/>
          </a:xfrm>
          <a:prstGeom prst="rect">
            <a:avLst/>
          </a:prstGeom>
        </p:spPr>
        <p:txBody>
          <a:bodyPr anchor="t" rtlCol="false" tIns="0" lIns="0" bIns="0" rIns="0">
            <a:spAutoFit/>
          </a:bodyPr>
          <a:lstStyle/>
          <a:p>
            <a:pPr algn="l">
              <a:lnSpc>
                <a:spcPts val="10652"/>
              </a:lnSpc>
              <a:spcBef>
                <a:spcPct val="0"/>
              </a:spcBef>
            </a:pPr>
            <a:r>
              <a:rPr lang="en-US" sz="7609">
                <a:solidFill>
                  <a:srgbClr val="000000"/>
                </a:solidFill>
                <a:latin typeface="League Spartan"/>
                <a:ea typeface="League Spartan"/>
                <a:cs typeface="League Spartan"/>
                <a:sym typeface="League Spartan"/>
              </a:rPr>
              <a:t>NỘI DUNG TRÌNH BÀY</a:t>
            </a:r>
          </a:p>
        </p:txBody>
      </p:sp>
      <p:sp>
        <p:nvSpPr>
          <p:cNvPr name="TextBox 10" id="10"/>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Freeform 11" id="11"/>
          <p:cNvSpPr/>
          <p:nvPr/>
        </p:nvSpPr>
        <p:spPr>
          <a:xfrm flipH="false" flipV="false" rot="0">
            <a:off x="5902424" y="6652680"/>
            <a:ext cx="709523" cy="709523"/>
          </a:xfrm>
          <a:custGeom>
            <a:avLst/>
            <a:gdLst/>
            <a:ahLst/>
            <a:cxnLst/>
            <a:rect r="r" b="b" t="t" l="l"/>
            <a:pathLst>
              <a:path h="709523" w="709523">
                <a:moveTo>
                  <a:pt x="0" y="0"/>
                </a:moveTo>
                <a:lnTo>
                  <a:pt x="709523" y="0"/>
                </a:lnTo>
                <a:lnTo>
                  <a:pt x="709523" y="709523"/>
                </a:lnTo>
                <a:lnTo>
                  <a:pt x="0" y="7095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548279" y="2335220"/>
            <a:ext cx="8826286" cy="6923080"/>
            <a:chOff x="0" y="0"/>
            <a:chExt cx="1367423" cy="1072566"/>
          </a:xfrm>
        </p:grpSpPr>
        <p:sp>
          <p:nvSpPr>
            <p:cNvPr name="Freeform 4" id="4"/>
            <p:cNvSpPr/>
            <p:nvPr/>
          </p:nvSpPr>
          <p:spPr>
            <a:xfrm flipH="false" flipV="false" rot="0">
              <a:off x="0" y="0"/>
              <a:ext cx="1367423" cy="1072566"/>
            </a:xfrm>
            <a:custGeom>
              <a:avLst/>
              <a:gdLst/>
              <a:ahLst/>
              <a:cxnLst/>
              <a:rect r="r" b="b" t="t" l="l"/>
              <a:pathLst>
                <a:path h="1072566" w="1367423">
                  <a:moveTo>
                    <a:pt x="0" y="0"/>
                  </a:moveTo>
                  <a:lnTo>
                    <a:pt x="1367423" y="0"/>
                  </a:lnTo>
                  <a:lnTo>
                    <a:pt x="1367423" y="1072566"/>
                  </a:lnTo>
                  <a:lnTo>
                    <a:pt x="0" y="1072566"/>
                  </a:lnTo>
                  <a:close/>
                </a:path>
              </a:pathLst>
            </a:custGeom>
            <a:blipFill>
              <a:blip r:embed="rId4"/>
              <a:stretch>
                <a:fillRect l="-8864" t="0" r="-8864" b="0"/>
              </a:stretch>
            </a:blipFill>
          </p:spPr>
        </p:sp>
      </p:grpSp>
      <p:grpSp>
        <p:nvGrpSpPr>
          <p:cNvPr name="Group 5" id="5"/>
          <p:cNvGrpSpPr/>
          <p:nvPr/>
        </p:nvGrpSpPr>
        <p:grpSpPr>
          <a:xfrm rot="0">
            <a:off x="8565640" y="2097095"/>
            <a:ext cx="2588589" cy="6923080"/>
            <a:chOff x="0" y="0"/>
            <a:chExt cx="681768" cy="1823363"/>
          </a:xfrm>
        </p:grpSpPr>
        <p:sp>
          <p:nvSpPr>
            <p:cNvPr name="Freeform 6" id="6"/>
            <p:cNvSpPr/>
            <p:nvPr/>
          </p:nvSpPr>
          <p:spPr>
            <a:xfrm flipH="false" flipV="false" rot="0">
              <a:off x="0" y="0"/>
              <a:ext cx="681768" cy="1823363"/>
            </a:xfrm>
            <a:custGeom>
              <a:avLst/>
              <a:gdLst/>
              <a:ahLst/>
              <a:cxnLst/>
              <a:rect r="r" b="b" t="t" l="l"/>
              <a:pathLst>
                <a:path h="1823363" w="681768">
                  <a:moveTo>
                    <a:pt x="0" y="0"/>
                  </a:moveTo>
                  <a:lnTo>
                    <a:pt x="681768" y="0"/>
                  </a:lnTo>
                  <a:lnTo>
                    <a:pt x="681768" y="1823363"/>
                  </a:lnTo>
                  <a:lnTo>
                    <a:pt x="0" y="1823363"/>
                  </a:lnTo>
                  <a:close/>
                </a:path>
              </a:pathLst>
            </a:custGeom>
            <a:gradFill rotWithShape="true">
              <a:gsLst>
                <a:gs pos="0">
                  <a:srgbClr val="EEEEEE">
                    <a:alpha val="100000"/>
                  </a:srgbClr>
                </a:gs>
                <a:gs pos="100000">
                  <a:srgbClr val="EEEEEE">
                    <a:alpha val="0"/>
                  </a:srgbClr>
                </a:gs>
              </a:gsLst>
              <a:lin ang="0"/>
            </a:gradFill>
          </p:spPr>
        </p:sp>
        <p:sp>
          <p:nvSpPr>
            <p:cNvPr name="TextBox 7" id="7"/>
            <p:cNvSpPr txBox="true"/>
            <p:nvPr/>
          </p:nvSpPr>
          <p:spPr>
            <a:xfrm>
              <a:off x="0" y="-38100"/>
              <a:ext cx="681768" cy="18614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7379587" y="9020175"/>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82442" y="4226688"/>
            <a:ext cx="7465837" cy="1433612"/>
          </a:xfrm>
          <a:prstGeom prst="rect">
            <a:avLst/>
          </a:prstGeom>
        </p:spPr>
        <p:txBody>
          <a:bodyPr anchor="t" rtlCol="false" tIns="0" lIns="0" bIns="0" rIns="0">
            <a:spAutoFit/>
          </a:bodyPr>
          <a:lstStyle/>
          <a:p>
            <a:pPr algn="l">
              <a:lnSpc>
                <a:spcPts val="2873"/>
              </a:lnSpc>
              <a:spcBef>
                <a:spcPct val="0"/>
              </a:spcBef>
            </a:pPr>
            <a:r>
              <a:rPr lang="en-US" sz="2052">
                <a:solidFill>
                  <a:srgbClr val="000000"/>
                </a:solidFill>
                <a:latin typeface="Canva Sans"/>
                <a:ea typeface="Canva Sans"/>
                <a:cs typeface="Canva Sans"/>
                <a:sym typeface="Canva Sans"/>
              </a:rPr>
              <a:t>Xây dựng hệ thống nhận diện cảm xúc khuôn mặt để tự động phân tích hình ảnh/video và xác định cảm xúc của con </a:t>
            </a:r>
            <a:r>
              <a:rPr lang="en-US" sz="2052">
                <a:solidFill>
                  <a:srgbClr val="000000"/>
                </a:solidFill>
                <a:latin typeface="Canva Sans"/>
                <a:ea typeface="Canva Sans"/>
                <a:cs typeface="Canva Sans"/>
                <a:sym typeface="Canva Sans"/>
              </a:rPr>
              <a:t>người. Bao gồm 7 cảm xúc cơ bản: vui, buồn, giận, sợ, ngạc nhiên, ghê tởm, trung tính)</a:t>
            </a:r>
          </a:p>
        </p:txBody>
      </p:sp>
      <p:sp>
        <p:nvSpPr>
          <p:cNvPr name="TextBox 10" id="10"/>
          <p:cNvSpPr txBox="true"/>
          <p:nvPr/>
        </p:nvSpPr>
        <p:spPr>
          <a:xfrm rot="0">
            <a:off x="1028671" y="3569658"/>
            <a:ext cx="4752656" cy="46482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Bài toán</a:t>
            </a:r>
          </a:p>
        </p:txBody>
      </p:sp>
      <p:sp>
        <p:nvSpPr>
          <p:cNvPr name="TextBox 11" id="11"/>
          <p:cNvSpPr txBox="true"/>
          <p:nvPr/>
        </p:nvSpPr>
        <p:spPr>
          <a:xfrm rot="0">
            <a:off x="1028700" y="2230445"/>
            <a:ext cx="7500529" cy="928544"/>
          </a:xfrm>
          <a:prstGeom prst="rect">
            <a:avLst/>
          </a:prstGeom>
        </p:spPr>
        <p:txBody>
          <a:bodyPr anchor="t" rtlCol="false" tIns="0" lIns="0" bIns="0" rIns="0">
            <a:spAutoFit/>
          </a:bodyPr>
          <a:lstStyle/>
          <a:p>
            <a:pPr algn="l">
              <a:lnSpc>
                <a:spcPts val="7621"/>
              </a:lnSpc>
              <a:spcBef>
                <a:spcPct val="0"/>
              </a:spcBef>
            </a:pPr>
            <a:r>
              <a:rPr lang="en-US" sz="5443">
                <a:solidFill>
                  <a:srgbClr val="000000"/>
                </a:solidFill>
                <a:latin typeface="League Spartan"/>
                <a:ea typeface="League Spartan"/>
                <a:cs typeface="League Spartan"/>
                <a:sym typeface="League Spartan"/>
              </a:rPr>
              <a:t>PHÁT BIỂU BÀI TOÁN</a:t>
            </a:r>
          </a:p>
        </p:txBody>
      </p:sp>
      <p:sp>
        <p:nvSpPr>
          <p:cNvPr name="TextBox 12" id="12"/>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AutoShape 13" id="13"/>
          <p:cNvSpPr/>
          <p:nvPr/>
        </p:nvSpPr>
        <p:spPr>
          <a:xfrm>
            <a:off x="1065082" y="3388683"/>
            <a:ext cx="7500558" cy="0"/>
          </a:xfrm>
          <a:prstGeom prst="line">
            <a:avLst/>
          </a:prstGeom>
          <a:ln cap="flat" w="19050">
            <a:solidFill>
              <a:srgbClr val="000000"/>
            </a:solidFill>
            <a:prstDash val="solid"/>
            <a:headEnd type="none" len="sm" w="sm"/>
            <a:tailEnd type="none" len="sm" w="sm"/>
          </a:ln>
        </p:spPr>
      </p:sp>
      <p:sp>
        <p:nvSpPr>
          <p:cNvPr name="TextBox 14" id="14"/>
          <p:cNvSpPr txBox="true"/>
          <p:nvPr/>
        </p:nvSpPr>
        <p:spPr>
          <a:xfrm rot="0">
            <a:off x="1101492" y="6312753"/>
            <a:ext cx="7446787" cy="2236024"/>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Ứng dụng thực tế</a:t>
            </a:r>
          </a:p>
          <a:p>
            <a:pPr algn="l">
              <a:lnSpc>
                <a:spcPts val="2799"/>
              </a:lnSpc>
              <a:spcBef>
                <a:spcPct val="0"/>
              </a:spcBef>
            </a:pPr>
            <a:r>
              <a:rPr lang="en-US" b="true" sz="1999">
                <a:solidFill>
                  <a:srgbClr val="000000"/>
                </a:solidFill>
                <a:latin typeface="Canva Sans Bold"/>
                <a:ea typeface="Canva Sans Bold"/>
                <a:cs typeface="Canva Sans Bold"/>
                <a:sym typeface="Canva Sans Bold"/>
              </a:rPr>
              <a:t>Chăm sóc khách hàng / Marketing:</a:t>
            </a:r>
            <a:r>
              <a:rPr lang="en-US" sz="1999">
                <a:solidFill>
                  <a:srgbClr val="000000"/>
                </a:solidFill>
                <a:latin typeface="Canva Sans"/>
                <a:ea typeface="Canva Sans"/>
                <a:cs typeface="Canva Sans"/>
                <a:sym typeface="Canva Sans"/>
              </a:rPr>
              <a:t> phân tích cảm xúc khách hàng</a:t>
            </a:r>
          </a:p>
          <a:p>
            <a:pPr algn="l">
              <a:lnSpc>
                <a:spcPts val="2799"/>
              </a:lnSpc>
              <a:spcBef>
                <a:spcPct val="0"/>
              </a:spcBef>
            </a:pPr>
            <a:r>
              <a:rPr lang="en-US" b="true" sz="1999">
                <a:solidFill>
                  <a:srgbClr val="000000"/>
                </a:solidFill>
                <a:latin typeface="Canva Sans Bold"/>
                <a:ea typeface="Canva Sans Bold"/>
                <a:cs typeface="Canva Sans Bold"/>
                <a:sym typeface="Canva Sans Bold"/>
              </a:rPr>
              <a:t>Giáo dục</a:t>
            </a:r>
            <a:r>
              <a:rPr lang="en-US" sz="1999">
                <a:solidFill>
                  <a:srgbClr val="000000"/>
                </a:solidFill>
                <a:latin typeface="Canva Sans"/>
                <a:ea typeface="Canva Sans"/>
                <a:cs typeface="Canva Sans"/>
                <a:sym typeface="Canva Sans"/>
              </a:rPr>
              <a:t>: theo dõi sự tập trung, cảm xúc của học sinh khi học online.</a:t>
            </a:r>
          </a:p>
          <a:p>
            <a:pPr algn="l">
              <a:lnSpc>
                <a:spcPts val="2799"/>
              </a:lnSpc>
              <a:spcBef>
                <a:spcPct val="0"/>
              </a:spcBef>
            </a:pPr>
            <a:r>
              <a:rPr lang="en-US" b="true" sz="1999">
                <a:solidFill>
                  <a:srgbClr val="000000"/>
                </a:solidFill>
                <a:latin typeface="Canva Sans Bold"/>
                <a:ea typeface="Canva Sans Bold"/>
                <a:cs typeface="Canva Sans Bold"/>
                <a:sym typeface="Canva Sans Bold"/>
              </a:rPr>
              <a:t>Y tế: </a:t>
            </a:r>
            <a:r>
              <a:rPr lang="en-US" sz="1999">
                <a:solidFill>
                  <a:srgbClr val="000000"/>
                </a:solidFill>
                <a:latin typeface="Canva Sans"/>
                <a:ea typeface="Canva Sans"/>
                <a:cs typeface="Canva Sans"/>
                <a:sym typeface="Canva Sans"/>
              </a:rPr>
              <a:t>hỗ trợ phát hiện trầm cảm, rối loạn cảm xúc.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1028700" y="5879810"/>
            <a:ext cx="16230600"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0419710" y="3553691"/>
            <a:ext cx="709523" cy="709523"/>
          </a:xfrm>
          <a:custGeom>
            <a:avLst/>
            <a:gdLst/>
            <a:ahLst/>
            <a:cxnLst/>
            <a:rect r="r" b="b" t="t" l="l"/>
            <a:pathLst>
              <a:path h="709523" w="709523">
                <a:moveTo>
                  <a:pt x="0" y="0"/>
                </a:moveTo>
                <a:lnTo>
                  <a:pt x="709523" y="0"/>
                </a:lnTo>
                <a:lnTo>
                  <a:pt x="709523"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800333"/>
            <a:ext cx="8859245" cy="2462881"/>
          </a:xfrm>
          <a:custGeom>
            <a:avLst/>
            <a:gdLst/>
            <a:ahLst/>
            <a:cxnLst/>
            <a:rect r="r" b="b" t="t" l="l"/>
            <a:pathLst>
              <a:path h="2462881" w="8859245">
                <a:moveTo>
                  <a:pt x="0" y="0"/>
                </a:moveTo>
                <a:lnTo>
                  <a:pt x="8859245" y="0"/>
                </a:lnTo>
                <a:lnTo>
                  <a:pt x="8859245" y="2462881"/>
                </a:lnTo>
                <a:lnTo>
                  <a:pt x="0" y="2462881"/>
                </a:lnTo>
                <a:lnTo>
                  <a:pt x="0" y="0"/>
                </a:lnTo>
                <a:close/>
              </a:path>
            </a:pathLst>
          </a:custGeom>
          <a:blipFill>
            <a:blip r:embed="rId4"/>
            <a:stretch>
              <a:fillRect l="0" t="0" r="-633" b="0"/>
            </a:stretch>
          </a:blipFill>
        </p:spPr>
      </p:sp>
      <p:sp>
        <p:nvSpPr>
          <p:cNvPr name="TextBox 5" id="5"/>
          <p:cNvSpPr txBox="true"/>
          <p:nvPr/>
        </p:nvSpPr>
        <p:spPr>
          <a:xfrm rot="0">
            <a:off x="5973307" y="5086350"/>
            <a:ext cx="6834137"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Canva Sans Bold"/>
                <a:ea typeface="Canva Sans Bold"/>
                <a:cs typeface="Canva Sans Bold"/>
                <a:sym typeface="Canva Sans Bold"/>
              </a:rPr>
              <a:t>Đặc điểm của dataset</a:t>
            </a:r>
          </a:p>
        </p:txBody>
      </p:sp>
      <p:sp>
        <p:nvSpPr>
          <p:cNvPr name="TextBox 6" id="6"/>
          <p:cNvSpPr txBox="true"/>
          <p:nvPr/>
        </p:nvSpPr>
        <p:spPr>
          <a:xfrm rot="0">
            <a:off x="10141201" y="1666983"/>
            <a:ext cx="8146799" cy="1171990"/>
          </a:xfrm>
          <a:prstGeom prst="rect">
            <a:avLst/>
          </a:prstGeom>
        </p:spPr>
        <p:txBody>
          <a:bodyPr anchor="t" rtlCol="false" tIns="0" lIns="0" bIns="0" rIns="0">
            <a:spAutoFit/>
          </a:bodyPr>
          <a:lstStyle/>
          <a:p>
            <a:pPr algn="l">
              <a:lnSpc>
                <a:spcPts val="9558"/>
              </a:lnSpc>
              <a:spcBef>
                <a:spcPct val="0"/>
              </a:spcBef>
            </a:pPr>
            <a:r>
              <a:rPr lang="en-US" sz="6827">
                <a:solidFill>
                  <a:srgbClr val="000000"/>
                </a:solidFill>
                <a:latin typeface="League Spartan"/>
                <a:ea typeface="League Spartan"/>
                <a:cs typeface="League Spartan"/>
                <a:sym typeface="League Spartan"/>
              </a:rPr>
              <a:t>RA</a:t>
            </a:r>
            <a:r>
              <a:rPr lang="en-US" sz="6827">
                <a:solidFill>
                  <a:srgbClr val="000000"/>
                </a:solidFill>
                <a:latin typeface="League Spartan"/>
                <a:ea typeface="League Spartan"/>
                <a:cs typeface="League Spartan"/>
                <a:sym typeface="League Spartan"/>
              </a:rPr>
              <a:t>F-DB</a:t>
            </a:r>
            <a:r>
              <a:rPr lang="en-US" sz="6827">
                <a:solidFill>
                  <a:srgbClr val="000000"/>
                </a:solidFill>
                <a:latin typeface="League Spartan"/>
                <a:ea typeface="League Spartan"/>
                <a:cs typeface="League Spartan"/>
                <a:sym typeface="League Spartan"/>
              </a:rPr>
              <a:t> DATASET</a:t>
            </a:r>
          </a:p>
        </p:txBody>
      </p:sp>
      <p:sp>
        <p:nvSpPr>
          <p:cNvPr name="TextBox 7" id="7"/>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8" id="8"/>
          <p:cNvSpPr txBox="true"/>
          <p:nvPr/>
        </p:nvSpPr>
        <p:spPr>
          <a:xfrm rot="0">
            <a:off x="9730951" y="6410023"/>
            <a:ext cx="3151888" cy="217497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Canva Sans"/>
                <a:ea typeface="Canva Sans"/>
                <a:cs typeface="Canva Sans"/>
                <a:sym typeface="Canva Sans"/>
              </a:rPr>
              <a:t>Ảnh đã được phân chia sẵn theo thư mục (train/test).  Nhãn cảm xúc được lưu trong file csv</a:t>
            </a:r>
          </a:p>
        </p:txBody>
      </p:sp>
      <p:sp>
        <p:nvSpPr>
          <p:cNvPr name="TextBox 9" id="9"/>
          <p:cNvSpPr txBox="true"/>
          <p:nvPr/>
        </p:nvSpPr>
        <p:spPr>
          <a:xfrm rot="0">
            <a:off x="14107412" y="6410023"/>
            <a:ext cx="3151888" cy="217497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Canva Sans"/>
                <a:ea typeface="Canva Sans"/>
                <a:cs typeface="Canva Sans"/>
                <a:sym typeface="Canva Sans"/>
              </a:rPr>
              <a:t>ảnh khuôn mặt được gắn thẻ với các biểu cảm </a:t>
            </a:r>
            <a:r>
              <a:rPr lang="en-US" sz="2499">
                <a:solidFill>
                  <a:srgbClr val="000000"/>
                </a:solidFill>
                <a:latin typeface="Canva Sans"/>
                <a:ea typeface="Canva Sans"/>
                <a:cs typeface="Canva Sans"/>
                <a:sym typeface="Canva Sans"/>
              </a:rPr>
              <a:t>cơ bản hoặc phức hợp bởi 40 nhà gắn thẻ độc lập</a:t>
            </a:r>
          </a:p>
        </p:txBody>
      </p:sp>
      <p:sp>
        <p:nvSpPr>
          <p:cNvPr name="TextBox 10" id="10"/>
          <p:cNvSpPr txBox="true"/>
          <p:nvPr/>
        </p:nvSpPr>
        <p:spPr>
          <a:xfrm rot="0">
            <a:off x="5599508" y="6441772"/>
            <a:ext cx="2902718" cy="3051308"/>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Canva Sans"/>
                <a:ea typeface="Canva Sans"/>
                <a:cs typeface="Canva Sans"/>
                <a:sym typeface="Canva Sans"/>
              </a:rPr>
              <a:t>Dataset “In-the-wild”, đa dạng và thực tế. Lấy từ bộ dataset The Real-world Affective Faces Database (RAF-DB</a:t>
            </a:r>
          </a:p>
        </p:txBody>
      </p:sp>
      <p:sp>
        <p:nvSpPr>
          <p:cNvPr name="TextBox 11" id="11"/>
          <p:cNvSpPr txBox="true"/>
          <p:nvPr/>
        </p:nvSpPr>
        <p:spPr>
          <a:xfrm rot="0">
            <a:off x="1276124" y="6441772"/>
            <a:ext cx="3094659" cy="1736801"/>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Canva Sans"/>
                <a:ea typeface="Canva Sans"/>
                <a:cs typeface="Canva Sans"/>
                <a:sym typeface="Canva Sans"/>
              </a:rPr>
              <a:t>Khoảng 15k ảnh khuôn mặt, với hơn 17.000 lượt tải trên Kaggle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8639925" y="2223681"/>
            <a:ext cx="8619375"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8789238" y="6816498"/>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028700"/>
            <a:ext cx="6362380" cy="8229600"/>
          </a:xfrm>
          <a:custGeom>
            <a:avLst/>
            <a:gdLst/>
            <a:ahLst/>
            <a:cxnLst/>
            <a:rect r="r" b="b" t="t" l="l"/>
            <a:pathLst>
              <a:path h="8229600" w="6362380">
                <a:moveTo>
                  <a:pt x="0" y="0"/>
                </a:moveTo>
                <a:lnTo>
                  <a:pt x="6362380" y="0"/>
                </a:lnTo>
                <a:lnTo>
                  <a:pt x="6362380" y="8229600"/>
                </a:lnTo>
                <a:lnTo>
                  <a:pt x="0" y="8229600"/>
                </a:lnTo>
                <a:lnTo>
                  <a:pt x="0" y="0"/>
                </a:lnTo>
                <a:close/>
              </a:path>
            </a:pathLst>
          </a:custGeom>
          <a:blipFill>
            <a:blip r:embed="rId4"/>
            <a:stretch>
              <a:fillRect l="0" t="0" r="0" b="0"/>
            </a:stretch>
          </a:blipFill>
        </p:spPr>
      </p:sp>
      <p:sp>
        <p:nvSpPr>
          <p:cNvPr name="TextBox 5" id="5"/>
          <p:cNvSpPr txBox="true"/>
          <p:nvPr/>
        </p:nvSpPr>
        <p:spPr>
          <a:xfrm rot="0">
            <a:off x="9885775" y="1254036"/>
            <a:ext cx="6834137" cy="587375"/>
          </a:xfrm>
          <a:prstGeom prst="rect">
            <a:avLst/>
          </a:prstGeom>
        </p:spPr>
        <p:txBody>
          <a:bodyPr anchor="t" rtlCol="false" tIns="0" lIns="0" bIns="0" rIns="0">
            <a:spAutoFit/>
          </a:bodyPr>
          <a:lstStyle/>
          <a:p>
            <a:pPr algn="ctr">
              <a:lnSpc>
                <a:spcPts val="4899"/>
              </a:lnSpc>
              <a:spcBef>
                <a:spcPct val="0"/>
              </a:spcBef>
            </a:pPr>
            <a:r>
              <a:rPr lang="en-US" b="true" sz="3499">
                <a:solidFill>
                  <a:srgbClr val="000000"/>
                </a:solidFill>
                <a:latin typeface="Canva Sans Bold"/>
                <a:ea typeface="Canva Sans Bold"/>
                <a:cs typeface="Canva Sans Bold"/>
                <a:sym typeface="Canva Sans Bold"/>
              </a:rPr>
              <a:t>Một số mẫu của dataset</a:t>
            </a:r>
          </a:p>
        </p:txBody>
      </p:sp>
      <p:sp>
        <p:nvSpPr>
          <p:cNvPr name="TextBox 6" id="6"/>
          <p:cNvSpPr txBox="true"/>
          <p:nvPr/>
        </p:nvSpPr>
        <p:spPr>
          <a:xfrm rot="0">
            <a:off x="8639925" y="2669910"/>
            <a:ext cx="3934994" cy="3322321"/>
          </a:xfrm>
          <a:prstGeom prst="rect">
            <a:avLst/>
          </a:prstGeom>
        </p:spPr>
        <p:txBody>
          <a:bodyPr anchor="t" rtlCol="false" tIns="0" lIns="0" bIns="0" rIns="0">
            <a:spAutoFit/>
          </a:bodyPr>
          <a:lstStyle/>
          <a:p>
            <a:pPr algn="l">
              <a:lnSpc>
                <a:spcPts val="3779"/>
              </a:lnSpc>
              <a:spcBef>
                <a:spcPct val="0"/>
              </a:spcBef>
            </a:pPr>
            <a:r>
              <a:rPr lang="en-US" sz="2699">
                <a:solidFill>
                  <a:srgbClr val="000000"/>
                </a:solidFill>
                <a:latin typeface="Canva Sans"/>
                <a:ea typeface="Canva Sans"/>
                <a:cs typeface="Canva Sans"/>
                <a:sym typeface="Canva Sans"/>
              </a:rPr>
              <a:t>Các hình ảnh trong bộ dữ liệu này rất đa dạng về độ tuổi, giới tính, dân tộc, góc chụp đầu, điều kiện ánh sáng, che khuất (như kính, râu, tóc che mặt), ...</a:t>
            </a:r>
          </a:p>
        </p:txBody>
      </p:sp>
      <p:sp>
        <p:nvSpPr>
          <p:cNvPr name="TextBox 7" id="7"/>
          <p:cNvSpPr txBox="true"/>
          <p:nvPr/>
        </p:nvSpPr>
        <p:spPr>
          <a:xfrm rot="0">
            <a:off x="13822694" y="2669910"/>
            <a:ext cx="3436606" cy="2846071"/>
          </a:xfrm>
          <a:prstGeom prst="rect">
            <a:avLst/>
          </a:prstGeom>
        </p:spPr>
        <p:txBody>
          <a:bodyPr anchor="t" rtlCol="false" tIns="0" lIns="0" bIns="0" rIns="0">
            <a:spAutoFit/>
          </a:bodyPr>
          <a:lstStyle/>
          <a:p>
            <a:pPr algn="l">
              <a:lnSpc>
                <a:spcPts val="3779"/>
              </a:lnSpc>
            </a:pPr>
            <a:r>
              <a:rPr lang="en-US" sz="2699">
                <a:solidFill>
                  <a:srgbClr val="000000"/>
                </a:solidFill>
                <a:latin typeface="Canva Sans"/>
                <a:ea typeface="Canva Sans"/>
                <a:cs typeface="Canva Sans"/>
                <a:sym typeface="Canva Sans"/>
              </a:rPr>
              <a:t>Hình ảnh màu, độ phân giải trung bình, một số có nhiễu nhẹ hoặc biến đổi (như filter)</a:t>
            </a:r>
          </a:p>
          <a:p>
            <a:pPr algn="l">
              <a:lnSpc>
                <a:spcPts val="377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10425163" y="2214156"/>
            <a:ext cx="6839590"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10800000">
            <a:off x="4401477" y="2223681"/>
            <a:ext cx="5008583" cy="4414433"/>
            <a:chOff x="0" y="0"/>
            <a:chExt cx="1319133" cy="1162649"/>
          </a:xfrm>
        </p:grpSpPr>
        <p:sp>
          <p:nvSpPr>
            <p:cNvPr name="Freeform 4" id="4"/>
            <p:cNvSpPr/>
            <p:nvPr/>
          </p:nvSpPr>
          <p:spPr>
            <a:xfrm flipH="false" flipV="false" rot="0">
              <a:off x="0" y="0"/>
              <a:ext cx="1319133" cy="1162649"/>
            </a:xfrm>
            <a:custGeom>
              <a:avLst/>
              <a:gdLst/>
              <a:ahLst/>
              <a:cxnLst/>
              <a:rect r="r" b="b" t="t" l="l"/>
              <a:pathLst>
                <a:path h="1162649" w="1319133">
                  <a:moveTo>
                    <a:pt x="0" y="0"/>
                  </a:moveTo>
                  <a:lnTo>
                    <a:pt x="1319133" y="0"/>
                  </a:lnTo>
                  <a:lnTo>
                    <a:pt x="1319133" y="1162649"/>
                  </a:lnTo>
                  <a:lnTo>
                    <a:pt x="0" y="1162649"/>
                  </a:lnTo>
                  <a:close/>
                </a:path>
              </a:pathLst>
            </a:custGeom>
            <a:gradFill rotWithShape="true">
              <a:gsLst>
                <a:gs pos="0">
                  <a:srgbClr val="EEEEEE">
                    <a:alpha val="100000"/>
                  </a:srgbClr>
                </a:gs>
                <a:gs pos="100000">
                  <a:srgbClr val="EEEEEE">
                    <a:alpha val="0"/>
                  </a:srgbClr>
                </a:gs>
              </a:gsLst>
              <a:lin ang="0"/>
            </a:gradFill>
          </p:spPr>
        </p:sp>
        <p:sp>
          <p:nvSpPr>
            <p:cNvPr name="TextBox 5" id="5"/>
            <p:cNvSpPr txBox="true"/>
            <p:nvPr/>
          </p:nvSpPr>
          <p:spPr>
            <a:xfrm>
              <a:off x="0" y="-38100"/>
              <a:ext cx="1319133" cy="120074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1028700"/>
            <a:ext cx="8932875" cy="4410607"/>
          </a:xfrm>
          <a:custGeom>
            <a:avLst/>
            <a:gdLst/>
            <a:ahLst/>
            <a:cxnLst/>
            <a:rect r="r" b="b" t="t" l="l"/>
            <a:pathLst>
              <a:path h="4410607" w="8932875">
                <a:moveTo>
                  <a:pt x="0" y="0"/>
                </a:moveTo>
                <a:lnTo>
                  <a:pt x="8932875" y="0"/>
                </a:lnTo>
                <a:lnTo>
                  <a:pt x="8932875" y="4410607"/>
                </a:lnTo>
                <a:lnTo>
                  <a:pt x="0" y="4410607"/>
                </a:lnTo>
                <a:lnTo>
                  <a:pt x="0" y="0"/>
                </a:lnTo>
                <a:close/>
              </a:path>
            </a:pathLst>
          </a:custGeom>
          <a:blipFill>
            <a:blip r:embed="rId4"/>
            <a:stretch>
              <a:fillRect l="0" t="0" r="0" b="0"/>
            </a:stretch>
          </a:blipFill>
        </p:spPr>
      </p:sp>
      <p:sp>
        <p:nvSpPr>
          <p:cNvPr name="TextBox 8" id="8"/>
          <p:cNvSpPr txBox="true"/>
          <p:nvPr/>
        </p:nvSpPr>
        <p:spPr>
          <a:xfrm rot="0">
            <a:off x="10425163" y="1214326"/>
            <a:ext cx="6834137" cy="46482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Tiền xử lý dữ liệu (Data Preprocessing)</a:t>
            </a:r>
          </a:p>
        </p:txBody>
      </p:sp>
      <p:sp>
        <p:nvSpPr>
          <p:cNvPr name="TextBox 9" id="9"/>
          <p:cNvSpPr txBox="true"/>
          <p:nvPr/>
        </p:nvSpPr>
        <p:spPr>
          <a:xfrm rot="0">
            <a:off x="1028700" y="5758305"/>
            <a:ext cx="8470062" cy="2384054"/>
          </a:xfrm>
          <a:prstGeom prst="rect">
            <a:avLst/>
          </a:prstGeom>
        </p:spPr>
        <p:txBody>
          <a:bodyPr anchor="t" rtlCol="false" tIns="0" lIns="0" bIns="0" rIns="0">
            <a:spAutoFit/>
          </a:bodyPr>
          <a:lstStyle/>
          <a:p>
            <a:pPr algn="l">
              <a:lnSpc>
                <a:spcPts val="9558"/>
              </a:lnSpc>
            </a:pPr>
            <a:r>
              <a:rPr lang="en-US" sz="6827">
                <a:solidFill>
                  <a:srgbClr val="000000"/>
                </a:solidFill>
                <a:latin typeface="League Spartan"/>
                <a:ea typeface="League Spartan"/>
                <a:cs typeface="League Spartan"/>
                <a:sym typeface="League Spartan"/>
              </a:rPr>
              <a:t>Thử nghiệm 1 :</a:t>
            </a:r>
          </a:p>
          <a:p>
            <a:pPr algn="l">
              <a:lnSpc>
                <a:spcPts val="9558"/>
              </a:lnSpc>
              <a:spcBef>
                <a:spcPct val="0"/>
              </a:spcBef>
            </a:pPr>
            <a:r>
              <a:rPr lang="en-US" sz="6827">
                <a:solidFill>
                  <a:srgbClr val="000000"/>
                </a:solidFill>
                <a:latin typeface="League Spartan"/>
                <a:ea typeface="League Spartan"/>
                <a:cs typeface="League Spartan"/>
                <a:sym typeface="League Spartan"/>
              </a:rPr>
              <a:t>CNN_Deep3 </a:t>
            </a:r>
          </a:p>
        </p:txBody>
      </p:sp>
      <p:sp>
        <p:nvSpPr>
          <p:cNvPr name="TextBox 10" id="10"/>
          <p:cNvSpPr txBox="true"/>
          <p:nvPr/>
        </p:nvSpPr>
        <p:spPr>
          <a:xfrm rot="0">
            <a:off x="10425163" y="2630904"/>
            <a:ext cx="2902718" cy="1397152"/>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Kích thước ảnh (Resizing): Tất cả ảnh được đưa về kích thước cố định 100x100 pixels.</a:t>
            </a:r>
          </a:p>
        </p:txBody>
      </p:sp>
      <p:sp>
        <p:nvSpPr>
          <p:cNvPr name="TextBox 11" id="11"/>
          <p:cNvSpPr txBox="true"/>
          <p:nvPr/>
        </p:nvSpPr>
        <p:spPr>
          <a:xfrm rot="0">
            <a:off x="14362035" y="2709456"/>
            <a:ext cx="2902718" cy="2102077"/>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Chuẩn hóa (Normalization): Giá trị pixel được chia </a:t>
            </a:r>
            <a:r>
              <a:rPr lang="en-US" sz="1999">
                <a:solidFill>
                  <a:srgbClr val="000000"/>
                </a:solidFill>
                <a:latin typeface="Canva Sans"/>
                <a:ea typeface="Canva Sans"/>
                <a:cs typeface="Canva Sans"/>
                <a:sym typeface="Canva Sans"/>
              </a:rPr>
              <a:t>cho 255 để đưa về khoảng [0, 1], giúp mô hình hội tụ nhanh hơn</a:t>
            </a:r>
          </a:p>
        </p:txBody>
      </p:sp>
      <p:sp>
        <p:nvSpPr>
          <p:cNvPr name="TextBox 12" id="12"/>
          <p:cNvSpPr txBox="true"/>
          <p:nvPr/>
        </p:nvSpPr>
        <p:spPr>
          <a:xfrm rot="0">
            <a:off x="10425163" y="5853555"/>
            <a:ext cx="2902718" cy="1397152"/>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Mã hóa nhãn: Sử dụng categorical (one-hot encoding) </a:t>
            </a:r>
            <a:r>
              <a:rPr lang="en-US" sz="1999">
                <a:solidFill>
                  <a:srgbClr val="000000"/>
                </a:solidFill>
                <a:latin typeface="Canva Sans"/>
                <a:ea typeface="Canva Sans"/>
                <a:cs typeface="Canva Sans"/>
                <a:sym typeface="Canva Sans"/>
              </a:rPr>
              <a:t>cho bài toán phân loại đa lớp.</a:t>
            </a:r>
          </a:p>
        </p:txBody>
      </p:sp>
      <p:sp>
        <p:nvSpPr>
          <p:cNvPr name="TextBox 13" id="13"/>
          <p:cNvSpPr txBox="true"/>
          <p:nvPr/>
        </p:nvSpPr>
        <p:spPr>
          <a:xfrm rot="0">
            <a:off x="14362035" y="5840234"/>
            <a:ext cx="2902718" cy="1749614"/>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Batch size: 512 (Kích t</a:t>
            </a:r>
            <a:r>
              <a:rPr lang="en-US" sz="1999">
                <a:solidFill>
                  <a:srgbClr val="000000"/>
                </a:solidFill>
                <a:latin typeface="Canva Sans"/>
                <a:ea typeface="Canva Sans"/>
                <a:cs typeface="Canva Sans"/>
                <a:sym typeface="Canva Sans"/>
              </a:rPr>
              <a:t>hước lô lớn giúp tận dụng khả năng tính toán song song của GPU trên colab)</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023247" y="3330232"/>
            <a:ext cx="16236053"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71550"/>
            <a:ext cx="6834137"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Canva Sans Bold"/>
                <a:ea typeface="Canva Sans Bold"/>
                <a:cs typeface="Canva Sans Bold"/>
                <a:sym typeface="Canva Sans Bold"/>
              </a:rPr>
              <a:t>Kiến trúc Mô hình</a:t>
            </a:r>
          </a:p>
        </p:txBody>
      </p:sp>
      <p:sp>
        <p:nvSpPr>
          <p:cNvPr name="TextBox 5" id="5"/>
          <p:cNvSpPr txBox="true"/>
          <p:nvPr/>
        </p:nvSpPr>
        <p:spPr>
          <a:xfrm rot="0">
            <a:off x="1028700" y="3644557"/>
            <a:ext cx="16230600" cy="1298633"/>
          </a:xfrm>
          <a:prstGeom prst="rect">
            <a:avLst/>
          </a:prstGeom>
        </p:spPr>
        <p:txBody>
          <a:bodyPr anchor="t" rtlCol="false" tIns="0" lIns="0" bIns="0" rIns="0">
            <a:spAutoFit/>
          </a:bodyPr>
          <a:lstStyle/>
          <a:p>
            <a:pPr algn="l">
              <a:lnSpc>
                <a:spcPts val="3499"/>
              </a:lnSpc>
            </a:pPr>
            <a:r>
              <a:rPr lang="en-US" sz="2499" b="true">
                <a:solidFill>
                  <a:srgbClr val="000000"/>
                </a:solidFill>
                <a:latin typeface="Canva Sans Bold"/>
                <a:ea typeface="Canva Sans Bold"/>
                <a:cs typeface="Canva Sans Bold"/>
                <a:sym typeface="Canva Sans Bold"/>
              </a:rPr>
              <a:t>Khối tích chập (Conv Block 1):</a:t>
            </a:r>
          </a:p>
          <a:p>
            <a:pPr algn="l">
              <a:lnSpc>
                <a:spcPts val="3499"/>
              </a:lnSpc>
            </a:pPr>
            <a:r>
              <a:rPr lang="en-US" sz="2499">
                <a:solidFill>
                  <a:srgbClr val="000000"/>
                </a:solidFill>
                <a:latin typeface="Canva Sans"/>
                <a:ea typeface="Canva Sans"/>
                <a:cs typeface="Canva Sans"/>
                <a:sym typeface="Canva Sans"/>
              </a:rPr>
              <a:t>Conv2D(32) --&gt; Conv2D(64): Tăng số lượng bộ lọc từ 32 lên 64 .</a:t>
            </a:r>
          </a:p>
          <a:p>
            <a:pPr algn="l">
              <a:lnSpc>
                <a:spcPts val="3499"/>
              </a:lnSpc>
              <a:spcBef>
                <a:spcPct val="0"/>
              </a:spcBef>
            </a:pPr>
            <a:r>
              <a:rPr lang="en-US" sz="2499">
                <a:solidFill>
                  <a:srgbClr val="000000"/>
                </a:solidFill>
                <a:latin typeface="Canva Sans"/>
                <a:ea typeface="Canva Sans"/>
                <a:cs typeface="Canva Sans"/>
                <a:sym typeface="Canva Sans"/>
              </a:rPr>
              <a:t> Kernel size (3,3): Kích thước tiêu chuẩn 3x3</a:t>
            </a:r>
          </a:p>
        </p:txBody>
      </p:sp>
      <p:sp>
        <p:nvSpPr>
          <p:cNvPr name="TextBox 6" id="6"/>
          <p:cNvSpPr txBox="true"/>
          <p:nvPr/>
        </p:nvSpPr>
        <p:spPr>
          <a:xfrm rot="0">
            <a:off x="1028700" y="5686159"/>
            <a:ext cx="16230600" cy="860464"/>
          </a:xfrm>
          <a:prstGeom prst="rect">
            <a:avLst/>
          </a:prstGeom>
        </p:spPr>
        <p:txBody>
          <a:bodyPr anchor="t" rtlCol="false" tIns="0" lIns="0" bIns="0" rIns="0">
            <a:spAutoFit/>
          </a:bodyPr>
          <a:lstStyle/>
          <a:p>
            <a:pPr algn="l">
              <a:lnSpc>
                <a:spcPts val="3499"/>
              </a:lnSpc>
            </a:pPr>
            <a:r>
              <a:rPr lang="en-US" sz="2499" b="true">
                <a:solidFill>
                  <a:srgbClr val="000000"/>
                </a:solidFill>
                <a:latin typeface="Canva Sans Bold"/>
                <a:ea typeface="Canva Sans Bold"/>
                <a:cs typeface="Canva Sans Bold"/>
                <a:sym typeface="Canva Sans Bold"/>
              </a:rPr>
              <a:t>Khối tích chập (Conv Block 2): Mid layer</a:t>
            </a:r>
          </a:p>
          <a:p>
            <a:pPr algn="l">
              <a:lnSpc>
                <a:spcPts val="3499"/>
              </a:lnSpc>
              <a:spcBef>
                <a:spcPct val="0"/>
              </a:spcBef>
            </a:pPr>
            <a:r>
              <a:rPr lang="en-US" sz="2499">
                <a:solidFill>
                  <a:srgbClr val="000000"/>
                </a:solidFill>
                <a:latin typeface="Canva Sans"/>
                <a:ea typeface="Canva Sans"/>
                <a:cs typeface="Canva Sans"/>
                <a:sym typeface="Canva Sans"/>
              </a:rPr>
              <a:t>Conv2D(128, kernel_size=(5,5)): sử dụng bộ lọc kích thước lớn hơn (5x5). Số lượng bộ lọc là 128</a:t>
            </a:r>
          </a:p>
        </p:txBody>
      </p:sp>
      <p:sp>
        <p:nvSpPr>
          <p:cNvPr name="TextBox 7" id="7"/>
          <p:cNvSpPr txBox="true"/>
          <p:nvPr/>
        </p:nvSpPr>
        <p:spPr>
          <a:xfrm rot="0">
            <a:off x="1028700" y="7222897"/>
            <a:ext cx="16230600" cy="1298633"/>
          </a:xfrm>
          <a:prstGeom prst="rect">
            <a:avLst/>
          </a:prstGeom>
        </p:spPr>
        <p:txBody>
          <a:bodyPr anchor="t" rtlCol="false" tIns="0" lIns="0" bIns="0" rIns="0">
            <a:spAutoFit/>
          </a:bodyPr>
          <a:lstStyle/>
          <a:p>
            <a:pPr algn="l">
              <a:lnSpc>
                <a:spcPts val="3499"/>
              </a:lnSpc>
            </a:pPr>
            <a:r>
              <a:rPr lang="en-US" sz="2499" b="true">
                <a:solidFill>
                  <a:srgbClr val="000000"/>
                </a:solidFill>
                <a:latin typeface="Canva Sans Bold"/>
                <a:ea typeface="Canva Sans Bold"/>
                <a:cs typeface="Canva Sans Bold"/>
                <a:sym typeface="Canva Sans Bold"/>
              </a:rPr>
              <a:t>Khối tích chập (Conv Block 3,4): Deep layers</a:t>
            </a:r>
          </a:p>
          <a:p>
            <a:pPr algn="l">
              <a:lnSpc>
                <a:spcPts val="3499"/>
              </a:lnSpc>
            </a:pPr>
            <a:r>
              <a:rPr lang="en-US" sz="2499">
                <a:solidFill>
                  <a:srgbClr val="000000"/>
                </a:solidFill>
                <a:latin typeface="Canva Sans"/>
                <a:ea typeface="Canva Sans"/>
                <a:cs typeface="Canva Sans"/>
                <a:sym typeface="Canva Sans"/>
              </a:rPr>
              <a:t>Conv2D(512): Đẩy số lượng bộ lọc lên rất cao (512) </a:t>
            </a:r>
          </a:p>
          <a:p>
            <a:pPr algn="l">
              <a:lnSpc>
                <a:spcPts val="3499"/>
              </a:lnSpc>
              <a:spcBef>
                <a:spcPct val="0"/>
              </a:spcBef>
            </a:pPr>
            <a:r>
              <a:rPr lang="en-US" sz="2499">
                <a:solidFill>
                  <a:srgbClr val="000000"/>
                </a:solidFill>
                <a:latin typeface="Canva Sans"/>
                <a:ea typeface="Canva Sans"/>
                <a:cs typeface="Canva Sans"/>
                <a:sym typeface="Canva Sans"/>
              </a:rPr>
              <a:t> kernel_regularizer=regularizers.l2(0.01): Áp dụng kỹ thuật điều chuẩn L2 Regularization tại các lớp sâu này.</a:t>
            </a:r>
          </a:p>
        </p:txBody>
      </p:sp>
      <p:sp>
        <p:nvSpPr>
          <p:cNvPr name="TextBox 8" id="8"/>
          <p:cNvSpPr txBox="true"/>
          <p:nvPr/>
        </p:nvSpPr>
        <p:spPr>
          <a:xfrm rot="0">
            <a:off x="1028700" y="2499193"/>
            <a:ext cx="11497174"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Canva Sans Bold"/>
                <a:ea typeface="Canva Sans Bold"/>
                <a:cs typeface="Canva Sans Bold"/>
                <a:sym typeface="Canva Sans Bold"/>
              </a:rPr>
              <a:t>A. Phần Trích xuất đặc trưng (Feature Extraction)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023247" y="3330232"/>
            <a:ext cx="16236053"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71550"/>
            <a:ext cx="6834137"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Canva Sans Bold"/>
                <a:ea typeface="Canva Sans Bold"/>
                <a:cs typeface="Canva Sans Bold"/>
                <a:sym typeface="Canva Sans Bold"/>
              </a:rPr>
              <a:t>Kiến trúc Mô hình</a:t>
            </a:r>
          </a:p>
        </p:txBody>
      </p:sp>
      <p:sp>
        <p:nvSpPr>
          <p:cNvPr name="TextBox 5" id="5"/>
          <p:cNvSpPr txBox="true"/>
          <p:nvPr/>
        </p:nvSpPr>
        <p:spPr>
          <a:xfrm rot="0">
            <a:off x="1028700" y="4535661"/>
            <a:ext cx="16230600"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BatchNormalization: </a:t>
            </a:r>
            <a:r>
              <a:rPr lang="en-US" sz="2999">
                <a:solidFill>
                  <a:srgbClr val="000000"/>
                </a:solidFill>
                <a:latin typeface="Canva Sans"/>
                <a:ea typeface="Canva Sans"/>
                <a:cs typeface="Canva Sans"/>
                <a:sym typeface="Canva Sans"/>
              </a:rPr>
              <a:t>Chuẩn hóa dữ liệu đầu ra của lớp trước đó</a:t>
            </a:r>
          </a:p>
        </p:txBody>
      </p:sp>
      <p:sp>
        <p:nvSpPr>
          <p:cNvPr name="TextBox 6" id="6"/>
          <p:cNvSpPr txBox="true"/>
          <p:nvPr/>
        </p:nvSpPr>
        <p:spPr>
          <a:xfrm rot="0">
            <a:off x="1028700" y="5617830"/>
            <a:ext cx="16230600" cy="101917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MaxPooling2D(2,2): </a:t>
            </a:r>
            <a:r>
              <a:rPr lang="en-US" sz="2999">
                <a:solidFill>
                  <a:srgbClr val="000000"/>
                </a:solidFill>
                <a:latin typeface="Canva Sans"/>
                <a:ea typeface="Canva Sans"/>
                <a:cs typeface="Canva Sans"/>
                <a:sym typeface="Canva Sans"/>
              </a:rPr>
              <a:t>Giảm kích thước ảnh đi một nửa (Down-sampling). Giúp giảm số lượng tham số tính toán</a:t>
            </a:r>
          </a:p>
        </p:txBody>
      </p:sp>
      <p:sp>
        <p:nvSpPr>
          <p:cNvPr name="TextBox 7" id="7"/>
          <p:cNvSpPr txBox="true"/>
          <p:nvPr/>
        </p:nvSpPr>
        <p:spPr>
          <a:xfrm rot="0">
            <a:off x="1028700" y="7227556"/>
            <a:ext cx="16230600"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Dropout(0.25):</a:t>
            </a:r>
            <a:r>
              <a:rPr lang="en-US" sz="2999">
                <a:solidFill>
                  <a:srgbClr val="000000"/>
                </a:solidFill>
                <a:latin typeface="Canva Sans"/>
                <a:ea typeface="Canva Sans"/>
                <a:cs typeface="Canva Sans"/>
                <a:sym typeface="Canva Sans"/>
              </a:rPr>
              <a:t> Tắt ngẫu nhiên 25% nơ-ron trong quá trình huấn luyện</a:t>
            </a:r>
          </a:p>
        </p:txBody>
      </p:sp>
      <p:sp>
        <p:nvSpPr>
          <p:cNvPr name="TextBox 8" id="8"/>
          <p:cNvSpPr txBox="true"/>
          <p:nvPr/>
        </p:nvSpPr>
        <p:spPr>
          <a:xfrm rot="0">
            <a:off x="1028700" y="2499193"/>
            <a:ext cx="11497174"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Canva Sans Bold"/>
                <a:ea typeface="Canva Sans Bold"/>
                <a:cs typeface="Canva Sans Bold"/>
                <a:sym typeface="Canva Sans Bold"/>
              </a:rPr>
              <a:t>B. Các lớp hỗ trợ (Utility Layers) trong mỗi khối</a:t>
            </a:r>
          </a:p>
        </p:txBody>
      </p:sp>
      <p:sp>
        <p:nvSpPr>
          <p:cNvPr name="TextBox 9" id="9"/>
          <p:cNvSpPr txBox="true"/>
          <p:nvPr/>
        </p:nvSpPr>
        <p:spPr>
          <a:xfrm rot="0">
            <a:off x="1028700" y="3453491"/>
            <a:ext cx="16230600" cy="495301"/>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Trong mỗi khối Conv2D đều đi kèm bộ ba: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023247" y="3330232"/>
            <a:ext cx="16236053"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71550"/>
            <a:ext cx="6834137"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Canva Sans Bold"/>
                <a:ea typeface="Canva Sans Bold"/>
                <a:cs typeface="Canva Sans Bold"/>
                <a:sym typeface="Canva Sans Bold"/>
              </a:rPr>
              <a:t>Kiến trúc Mô hình</a:t>
            </a:r>
          </a:p>
        </p:txBody>
      </p:sp>
      <p:sp>
        <p:nvSpPr>
          <p:cNvPr name="TextBox 5" id="5"/>
          <p:cNvSpPr txBox="true"/>
          <p:nvPr/>
        </p:nvSpPr>
        <p:spPr>
          <a:xfrm rot="0">
            <a:off x="1028700" y="4535661"/>
            <a:ext cx="16230600"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Flatten: </a:t>
            </a:r>
            <a:r>
              <a:rPr lang="en-US" sz="2999">
                <a:solidFill>
                  <a:srgbClr val="000000"/>
                </a:solidFill>
                <a:latin typeface="Canva Sans"/>
                <a:ea typeface="Canva Sans"/>
                <a:cs typeface="Canva Sans"/>
                <a:sym typeface="Canva Sans"/>
              </a:rPr>
              <a:t>Duỗi thẳng ma trận đặc trưng 3 chiều thành vector 1 chiều</a:t>
            </a:r>
          </a:p>
        </p:txBody>
      </p:sp>
      <p:sp>
        <p:nvSpPr>
          <p:cNvPr name="TextBox 6" id="6"/>
          <p:cNvSpPr txBox="true"/>
          <p:nvPr/>
        </p:nvSpPr>
        <p:spPr>
          <a:xfrm rot="0">
            <a:off x="1028700" y="5617830"/>
            <a:ext cx="16230600" cy="101917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Dense(256) ---&gt; Dense(512): </a:t>
            </a:r>
            <a:r>
              <a:rPr lang="en-US" sz="2999">
                <a:solidFill>
                  <a:srgbClr val="000000"/>
                </a:solidFill>
                <a:latin typeface="Canva Sans"/>
                <a:ea typeface="Canva Sans"/>
                <a:cs typeface="Canva Sans"/>
                <a:sym typeface="Canva Sans"/>
              </a:rPr>
              <a:t>Các lớp kết nối đầy đủ giúp tổng hợp các đặc trưng đã trích xuất để đưa ra quyết định. </a:t>
            </a:r>
          </a:p>
        </p:txBody>
      </p:sp>
      <p:sp>
        <p:nvSpPr>
          <p:cNvPr name="TextBox 7" id="7"/>
          <p:cNvSpPr txBox="true"/>
          <p:nvPr/>
        </p:nvSpPr>
        <p:spPr>
          <a:xfrm rot="0">
            <a:off x="1028700" y="7227556"/>
            <a:ext cx="16230600" cy="101917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Dense(7, activation='softmax'): </a:t>
            </a:r>
            <a:r>
              <a:rPr lang="en-US" sz="2999">
                <a:solidFill>
                  <a:srgbClr val="000000"/>
                </a:solidFill>
                <a:latin typeface="Canva Sans"/>
                <a:ea typeface="Canva Sans"/>
                <a:cs typeface="Canva Sans"/>
                <a:sym typeface="Canva Sans"/>
              </a:rPr>
              <a:t>Lớp cuối cùng có 7 nơ-ron tương ứng với 7 cảm xúc, sử dụng hàm Softmax để trả về xác suất (tổng bằng 1).</a:t>
            </a:r>
          </a:p>
        </p:txBody>
      </p:sp>
      <p:sp>
        <p:nvSpPr>
          <p:cNvPr name="TextBox 8" id="8"/>
          <p:cNvSpPr txBox="true"/>
          <p:nvPr/>
        </p:nvSpPr>
        <p:spPr>
          <a:xfrm rot="0">
            <a:off x="1028700" y="2499193"/>
            <a:ext cx="11497174"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Canva Sans Bold"/>
                <a:ea typeface="Canva Sans Bold"/>
                <a:cs typeface="Canva Sans Bold"/>
                <a:sym typeface="Canva Sans Bold"/>
              </a:rPr>
              <a:t>C. Phần Phân loại (Classification Head)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10425163" y="2214156"/>
            <a:ext cx="6839590"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10800000">
            <a:off x="4401477" y="2223681"/>
            <a:ext cx="5008583" cy="4414433"/>
            <a:chOff x="0" y="0"/>
            <a:chExt cx="1319133" cy="1162649"/>
          </a:xfrm>
        </p:grpSpPr>
        <p:sp>
          <p:nvSpPr>
            <p:cNvPr name="Freeform 4" id="4"/>
            <p:cNvSpPr/>
            <p:nvPr/>
          </p:nvSpPr>
          <p:spPr>
            <a:xfrm flipH="false" flipV="false" rot="0">
              <a:off x="0" y="0"/>
              <a:ext cx="1319133" cy="1162649"/>
            </a:xfrm>
            <a:custGeom>
              <a:avLst/>
              <a:gdLst/>
              <a:ahLst/>
              <a:cxnLst/>
              <a:rect r="r" b="b" t="t" l="l"/>
              <a:pathLst>
                <a:path h="1162649" w="1319133">
                  <a:moveTo>
                    <a:pt x="0" y="0"/>
                  </a:moveTo>
                  <a:lnTo>
                    <a:pt x="1319133" y="0"/>
                  </a:lnTo>
                  <a:lnTo>
                    <a:pt x="1319133" y="1162649"/>
                  </a:lnTo>
                  <a:lnTo>
                    <a:pt x="0" y="1162649"/>
                  </a:lnTo>
                  <a:close/>
                </a:path>
              </a:pathLst>
            </a:custGeom>
            <a:gradFill rotWithShape="true">
              <a:gsLst>
                <a:gs pos="0">
                  <a:srgbClr val="EEEEEE">
                    <a:alpha val="100000"/>
                  </a:srgbClr>
                </a:gs>
                <a:gs pos="100000">
                  <a:srgbClr val="EEEEEE">
                    <a:alpha val="0"/>
                  </a:srgbClr>
                </a:gs>
              </a:gsLst>
              <a:lin ang="0"/>
            </a:gradFill>
          </p:spPr>
        </p:sp>
        <p:sp>
          <p:nvSpPr>
            <p:cNvPr name="TextBox 5" id="5"/>
            <p:cNvSpPr txBox="true"/>
            <p:nvPr/>
          </p:nvSpPr>
          <p:spPr>
            <a:xfrm>
              <a:off x="0" y="-38100"/>
              <a:ext cx="1319133" cy="120074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1129744"/>
            <a:ext cx="8785983" cy="6556540"/>
          </a:xfrm>
          <a:custGeom>
            <a:avLst/>
            <a:gdLst/>
            <a:ahLst/>
            <a:cxnLst/>
            <a:rect r="r" b="b" t="t" l="l"/>
            <a:pathLst>
              <a:path h="6556540" w="8785983">
                <a:moveTo>
                  <a:pt x="0" y="0"/>
                </a:moveTo>
                <a:lnTo>
                  <a:pt x="8785983" y="0"/>
                </a:lnTo>
                <a:lnTo>
                  <a:pt x="8785983" y="6556539"/>
                </a:lnTo>
                <a:lnTo>
                  <a:pt x="0" y="6556539"/>
                </a:lnTo>
                <a:lnTo>
                  <a:pt x="0" y="0"/>
                </a:lnTo>
                <a:close/>
              </a:path>
            </a:pathLst>
          </a:custGeom>
          <a:blipFill>
            <a:blip r:embed="rId4"/>
            <a:stretch>
              <a:fillRect l="0" t="0" r="0" b="0"/>
            </a:stretch>
          </a:blipFill>
        </p:spPr>
      </p:sp>
      <p:sp>
        <p:nvSpPr>
          <p:cNvPr name="TextBox 8" id="8"/>
          <p:cNvSpPr txBox="true"/>
          <p:nvPr/>
        </p:nvSpPr>
        <p:spPr>
          <a:xfrm rot="0">
            <a:off x="10430616" y="971550"/>
            <a:ext cx="6834137" cy="94107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Canva Sans Bold"/>
                <a:ea typeface="Canva Sans Bold"/>
                <a:cs typeface="Canva Sans Bold"/>
                <a:sym typeface="Canva Sans Bold"/>
              </a:rPr>
              <a:t>Cấu hình Huấn luyện (Training Configuration)</a:t>
            </a:r>
          </a:p>
        </p:txBody>
      </p:sp>
      <p:sp>
        <p:nvSpPr>
          <p:cNvPr name="TextBox 9" id="9"/>
          <p:cNvSpPr txBox="true"/>
          <p:nvPr/>
        </p:nvSpPr>
        <p:spPr>
          <a:xfrm rot="0">
            <a:off x="10425163" y="2630904"/>
            <a:ext cx="2902718" cy="692226"/>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Số vòng lặp (Epochs): 100 epochs.</a:t>
            </a:r>
          </a:p>
        </p:txBody>
      </p:sp>
      <p:sp>
        <p:nvSpPr>
          <p:cNvPr name="TextBox 10" id="10"/>
          <p:cNvSpPr txBox="true"/>
          <p:nvPr/>
        </p:nvSpPr>
        <p:spPr>
          <a:xfrm rot="0">
            <a:off x="10425163" y="5853555"/>
            <a:ext cx="2902718" cy="1749614"/>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Command giúp đo và hiển thị tổng thời gian c</a:t>
            </a:r>
            <a:r>
              <a:rPr lang="en-US" sz="1999">
                <a:solidFill>
                  <a:srgbClr val="000000"/>
                </a:solidFill>
                <a:latin typeface="Canva Sans"/>
                <a:ea typeface="Canva Sans"/>
                <a:cs typeface="Canva Sans"/>
                <a:sym typeface="Canva Sans"/>
              </a:rPr>
              <a:t>hạy của cả ô (cell) code này.</a:t>
            </a:r>
          </a:p>
          <a:p>
            <a:pPr algn="l">
              <a:lnSpc>
                <a:spcPts val="2799"/>
              </a:lnSpc>
              <a:spcBef>
                <a:spcPct val="0"/>
              </a:spcBef>
            </a:pPr>
          </a:p>
        </p:txBody>
      </p:sp>
      <p:sp>
        <p:nvSpPr>
          <p:cNvPr name="TextBox 11" id="11"/>
          <p:cNvSpPr txBox="true"/>
          <p:nvPr/>
        </p:nvSpPr>
        <p:spPr>
          <a:xfrm rot="0">
            <a:off x="14347057" y="2630904"/>
            <a:ext cx="2902718" cy="2454540"/>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Cơ chế lưu mô hình (Callback): Sử dụng ModelC</a:t>
            </a:r>
            <a:r>
              <a:rPr lang="en-US" sz="1999">
                <a:solidFill>
                  <a:srgbClr val="000000"/>
                </a:solidFill>
                <a:latin typeface="Canva Sans"/>
                <a:ea typeface="Canva Sans"/>
                <a:cs typeface="Canva Sans"/>
                <a:sym typeface="Canva Sans"/>
              </a:rPr>
              <a:t>heckpoint để lưu lại trọng số mô hình tốt nhất dựa trên độ chính xác trên tập validation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6230600" cy="8032911"/>
          </a:xfrm>
          <a:custGeom>
            <a:avLst/>
            <a:gdLst/>
            <a:ahLst/>
            <a:cxnLst/>
            <a:rect r="r" b="b" t="t" l="l"/>
            <a:pathLst>
              <a:path h="8032911" w="16230600">
                <a:moveTo>
                  <a:pt x="0" y="0"/>
                </a:moveTo>
                <a:lnTo>
                  <a:pt x="16230600" y="0"/>
                </a:lnTo>
                <a:lnTo>
                  <a:pt x="16230600" y="8032911"/>
                </a:lnTo>
                <a:lnTo>
                  <a:pt x="0" y="8032911"/>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7698" y="1028700"/>
            <a:ext cx="10243082" cy="8229600"/>
          </a:xfrm>
          <a:custGeom>
            <a:avLst/>
            <a:gdLst/>
            <a:ahLst/>
            <a:cxnLst/>
            <a:rect r="r" b="b" t="t" l="l"/>
            <a:pathLst>
              <a:path h="8229600" w="10243082">
                <a:moveTo>
                  <a:pt x="0" y="0"/>
                </a:moveTo>
                <a:lnTo>
                  <a:pt x="10243081" y="0"/>
                </a:lnTo>
                <a:lnTo>
                  <a:pt x="10243081" y="8229600"/>
                </a:lnTo>
                <a:lnTo>
                  <a:pt x="0" y="8229600"/>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10425163" y="2233206"/>
            <a:ext cx="6839590"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10800000">
            <a:off x="4401477" y="2223681"/>
            <a:ext cx="5008583" cy="4414433"/>
            <a:chOff x="0" y="0"/>
            <a:chExt cx="1319133" cy="1162649"/>
          </a:xfrm>
        </p:grpSpPr>
        <p:sp>
          <p:nvSpPr>
            <p:cNvPr name="Freeform 4" id="4"/>
            <p:cNvSpPr/>
            <p:nvPr/>
          </p:nvSpPr>
          <p:spPr>
            <a:xfrm flipH="false" flipV="false" rot="0">
              <a:off x="0" y="0"/>
              <a:ext cx="1319133" cy="1162649"/>
            </a:xfrm>
            <a:custGeom>
              <a:avLst/>
              <a:gdLst/>
              <a:ahLst/>
              <a:cxnLst/>
              <a:rect r="r" b="b" t="t" l="l"/>
              <a:pathLst>
                <a:path h="1162649" w="1319133">
                  <a:moveTo>
                    <a:pt x="0" y="0"/>
                  </a:moveTo>
                  <a:lnTo>
                    <a:pt x="1319133" y="0"/>
                  </a:lnTo>
                  <a:lnTo>
                    <a:pt x="1319133" y="1162649"/>
                  </a:lnTo>
                  <a:lnTo>
                    <a:pt x="0" y="1162649"/>
                  </a:lnTo>
                  <a:close/>
                </a:path>
              </a:pathLst>
            </a:custGeom>
            <a:gradFill rotWithShape="true">
              <a:gsLst>
                <a:gs pos="0">
                  <a:srgbClr val="EEEEEE">
                    <a:alpha val="100000"/>
                  </a:srgbClr>
                </a:gs>
                <a:gs pos="100000">
                  <a:srgbClr val="EEEEEE">
                    <a:alpha val="0"/>
                  </a:srgbClr>
                </a:gs>
              </a:gsLst>
              <a:lin ang="0"/>
            </a:gradFill>
          </p:spPr>
        </p:sp>
        <p:sp>
          <p:nvSpPr>
            <p:cNvPr name="TextBox 5" id="5"/>
            <p:cNvSpPr txBox="true"/>
            <p:nvPr/>
          </p:nvSpPr>
          <p:spPr>
            <a:xfrm>
              <a:off x="0" y="-38100"/>
              <a:ext cx="1319133" cy="120074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9410060" y="8903538"/>
            <a:ext cx="709523" cy="709523"/>
          </a:xfrm>
          <a:custGeom>
            <a:avLst/>
            <a:gdLst/>
            <a:ahLst/>
            <a:cxnLst/>
            <a:rect r="r" b="b" t="t" l="l"/>
            <a:pathLst>
              <a:path h="709523" w="709523">
                <a:moveTo>
                  <a:pt x="0" y="0"/>
                </a:moveTo>
                <a:lnTo>
                  <a:pt x="709523" y="0"/>
                </a:lnTo>
                <a:lnTo>
                  <a:pt x="709523" y="709524"/>
                </a:lnTo>
                <a:lnTo>
                  <a:pt x="0" y="709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996952" y="1679146"/>
            <a:ext cx="8932875" cy="4410607"/>
          </a:xfrm>
          <a:custGeom>
            <a:avLst/>
            <a:gdLst/>
            <a:ahLst/>
            <a:cxnLst/>
            <a:rect r="r" b="b" t="t" l="l"/>
            <a:pathLst>
              <a:path h="4410607" w="8932875">
                <a:moveTo>
                  <a:pt x="0" y="0"/>
                </a:moveTo>
                <a:lnTo>
                  <a:pt x="8932876" y="0"/>
                </a:lnTo>
                <a:lnTo>
                  <a:pt x="8932876" y="4410607"/>
                </a:lnTo>
                <a:lnTo>
                  <a:pt x="0" y="4410607"/>
                </a:lnTo>
                <a:lnTo>
                  <a:pt x="0" y="0"/>
                </a:lnTo>
                <a:close/>
              </a:path>
            </a:pathLst>
          </a:custGeom>
          <a:blipFill>
            <a:blip r:embed="rId4"/>
            <a:stretch>
              <a:fillRect l="0" t="0" r="0" b="0"/>
            </a:stretch>
          </a:blipFill>
        </p:spPr>
      </p:sp>
      <p:sp>
        <p:nvSpPr>
          <p:cNvPr name="TextBox 8" id="8"/>
          <p:cNvSpPr txBox="true"/>
          <p:nvPr/>
        </p:nvSpPr>
        <p:spPr>
          <a:xfrm rot="0">
            <a:off x="996952" y="6373598"/>
            <a:ext cx="8767869" cy="3171938"/>
          </a:xfrm>
          <a:prstGeom prst="rect">
            <a:avLst/>
          </a:prstGeom>
        </p:spPr>
        <p:txBody>
          <a:bodyPr anchor="t" rtlCol="false" tIns="0" lIns="0" bIns="0" rIns="0">
            <a:spAutoFit/>
          </a:bodyPr>
          <a:lstStyle/>
          <a:p>
            <a:pPr algn="l">
              <a:lnSpc>
                <a:spcPts val="8400"/>
              </a:lnSpc>
            </a:pPr>
            <a:r>
              <a:rPr lang="en-US" sz="6000">
                <a:solidFill>
                  <a:srgbClr val="000000"/>
                </a:solidFill>
                <a:latin typeface="League Spartan"/>
                <a:ea typeface="League Spartan"/>
                <a:cs typeface="League Spartan"/>
                <a:sym typeface="League Spartan"/>
              </a:rPr>
              <a:t>Thử nghiệm 2 : </a:t>
            </a:r>
          </a:p>
          <a:p>
            <a:pPr algn="l">
              <a:lnSpc>
                <a:spcPts val="8400"/>
              </a:lnSpc>
              <a:spcBef>
                <a:spcPct val="0"/>
              </a:spcBef>
            </a:pPr>
            <a:r>
              <a:rPr lang="en-US" sz="6000">
                <a:solidFill>
                  <a:srgbClr val="000000"/>
                </a:solidFill>
                <a:latin typeface="League Spartan"/>
                <a:ea typeface="League Spartan"/>
                <a:cs typeface="League Spartan"/>
                <a:sym typeface="League Spartan"/>
              </a:rPr>
              <a:t>CNN_Deep3_Augmentation</a:t>
            </a:r>
          </a:p>
        </p:txBody>
      </p:sp>
      <p:sp>
        <p:nvSpPr>
          <p:cNvPr name="TextBox 9" id="9"/>
          <p:cNvSpPr txBox="true"/>
          <p:nvPr/>
        </p:nvSpPr>
        <p:spPr>
          <a:xfrm rot="0">
            <a:off x="10425163" y="2630904"/>
            <a:ext cx="2475570" cy="1044689"/>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Vẫn giống các bước tiền xử lí bên thử nghiệm 1</a:t>
            </a:r>
          </a:p>
        </p:txBody>
      </p:sp>
      <p:sp>
        <p:nvSpPr>
          <p:cNvPr name="TextBox 10" id="10"/>
          <p:cNvSpPr txBox="true"/>
          <p:nvPr/>
        </p:nvSpPr>
        <p:spPr>
          <a:xfrm rot="0">
            <a:off x="14347057" y="2630904"/>
            <a:ext cx="2902718" cy="692226"/>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Kỹ thuật Data Augmentation</a:t>
            </a:r>
          </a:p>
        </p:txBody>
      </p:sp>
      <p:sp>
        <p:nvSpPr>
          <p:cNvPr name="TextBox 11" id="11"/>
          <p:cNvSpPr txBox="true"/>
          <p:nvPr/>
        </p:nvSpPr>
        <p:spPr>
          <a:xfrm rot="0">
            <a:off x="10425163" y="1621996"/>
            <a:ext cx="6834137" cy="46482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Tiền xử lý dữ liệu (Data Preprocessing)</a:t>
            </a:r>
          </a:p>
        </p:txBody>
      </p:sp>
      <p:sp>
        <p:nvSpPr>
          <p:cNvPr name="TextBox 12" id="12"/>
          <p:cNvSpPr txBox="true"/>
          <p:nvPr/>
        </p:nvSpPr>
        <p:spPr>
          <a:xfrm rot="0">
            <a:off x="10430616" y="4373748"/>
            <a:ext cx="6834137"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Canva Sans Bold"/>
                <a:ea typeface="Canva Sans Bold"/>
                <a:cs typeface="Canva Sans Bold"/>
                <a:sym typeface="Canva Sans Bold"/>
              </a:rPr>
              <a:t>Kiến trúc Mô hình và cấu hình training</a:t>
            </a:r>
          </a:p>
        </p:txBody>
      </p:sp>
      <p:sp>
        <p:nvSpPr>
          <p:cNvPr name="AutoShape 13" id="13"/>
          <p:cNvSpPr/>
          <p:nvPr/>
        </p:nvSpPr>
        <p:spPr>
          <a:xfrm>
            <a:off x="10430616" y="4981443"/>
            <a:ext cx="6839590" cy="0"/>
          </a:xfrm>
          <a:prstGeom prst="line">
            <a:avLst/>
          </a:prstGeom>
          <a:ln cap="flat" w="19050">
            <a:solidFill>
              <a:srgbClr val="000000"/>
            </a:solidFill>
            <a:prstDash val="solid"/>
            <a:headEnd type="none" len="sm" w="sm"/>
            <a:tailEnd type="none" len="sm" w="sm"/>
          </a:ln>
        </p:spPr>
      </p:sp>
      <p:sp>
        <p:nvSpPr>
          <p:cNvPr name="TextBox 14" id="14"/>
          <p:cNvSpPr txBox="true"/>
          <p:nvPr/>
        </p:nvSpPr>
        <p:spPr>
          <a:xfrm rot="0">
            <a:off x="10651487" y="5381493"/>
            <a:ext cx="2973910" cy="2102077"/>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Mô hình: Giữ nguyên kiến trúc CNN Deep3 (để đảm bảo tính công bằng khi so sánh tác động của Augmentation)</a:t>
            </a:r>
          </a:p>
        </p:txBody>
      </p:sp>
      <p:sp>
        <p:nvSpPr>
          <p:cNvPr name="TextBox 15" id="15"/>
          <p:cNvSpPr txBox="true"/>
          <p:nvPr/>
        </p:nvSpPr>
        <p:spPr>
          <a:xfrm rot="0">
            <a:off x="14347057" y="5381493"/>
            <a:ext cx="2902718" cy="1749614"/>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Epochs: 100, Callback: Vẫn sử dụng ModelCheckpoint để lưu model có val_accuracy tốt nhất.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197435"/>
            <a:ext cx="16230600" cy="7892129"/>
          </a:xfrm>
          <a:custGeom>
            <a:avLst/>
            <a:gdLst/>
            <a:ahLst/>
            <a:cxnLst/>
            <a:rect r="r" b="b" t="t" l="l"/>
            <a:pathLst>
              <a:path h="7892129" w="16230600">
                <a:moveTo>
                  <a:pt x="0" y="0"/>
                </a:moveTo>
                <a:lnTo>
                  <a:pt x="16230600" y="0"/>
                </a:lnTo>
                <a:lnTo>
                  <a:pt x="16230600" y="7892130"/>
                </a:lnTo>
                <a:lnTo>
                  <a:pt x="0" y="7892130"/>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57600" y="1028700"/>
            <a:ext cx="10972800" cy="8229600"/>
          </a:xfrm>
          <a:custGeom>
            <a:avLst/>
            <a:gdLst/>
            <a:ahLst/>
            <a:cxnLst/>
            <a:rect r="r" b="b" t="t" l="l"/>
            <a:pathLst>
              <a:path h="8229600" w="10972800">
                <a:moveTo>
                  <a:pt x="0" y="0"/>
                </a:moveTo>
                <a:lnTo>
                  <a:pt x="10972800" y="0"/>
                </a:lnTo>
                <a:lnTo>
                  <a:pt x="10972800" y="8229600"/>
                </a:lnTo>
                <a:lnTo>
                  <a:pt x="0" y="8229600"/>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10425163" y="2233206"/>
            <a:ext cx="6839590"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10800000">
            <a:off x="4401477" y="2223681"/>
            <a:ext cx="5008583" cy="4414433"/>
            <a:chOff x="0" y="0"/>
            <a:chExt cx="1319133" cy="1162649"/>
          </a:xfrm>
        </p:grpSpPr>
        <p:sp>
          <p:nvSpPr>
            <p:cNvPr name="Freeform 4" id="4"/>
            <p:cNvSpPr/>
            <p:nvPr/>
          </p:nvSpPr>
          <p:spPr>
            <a:xfrm flipH="false" flipV="false" rot="0">
              <a:off x="0" y="0"/>
              <a:ext cx="1319133" cy="1162649"/>
            </a:xfrm>
            <a:custGeom>
              <a:avLst/>
              <a:gdLst/>
              <a:ahLst/>
              <a:cxnLst/>
              <a:rect r="r" b="b" t="t" l="l"/>
              <a:pathLst>
                <a:path h="1162649" w="1319133">
                  <a:moveTo>
                    <a:pt x="0" y="0"/>
                  </a:moveTo>
                  <a:lnTo>
                    <a:pt x="1319133" y="0"/>
                  </a:lnTo>
                  <a:lnTo>
                    <a:pt x="1319133" y="1162649"/>
                  </a:lnTo>
                  <a:lnTo>
                    <a:pt x="0" y="1162649"/>
                  </a:lnTo>
                  <a:close/>
                </a:path>
              </a:pathLst>
            </a:custGeom>
            <a:gradFill rotWithShape="true">
              <a:gsLst>
                <a:gs pos="0">
                  <a:srgbClr val="EEEEEE">
                    <a:alpha val="100000"/>
                  </a:srgbClr>
                </a:gs>
                <a:gs pos="100000">
                  <a:srgbClr val="EEEEEE">
                    <a:alpha val="0"/>
                  </a:srgbClr>
                </a:gs>
              </a:gsLst>
              <a:lin ang="0"/>
            </a:gradFill>
          </p:spPr>
        </p:sp>
        <p:sp>
          <p:nvSpPr>
            <p:cNvPr name="TextBox 5" id="5"/>
            <p:cNvSpPr txBox="true"/>
            <p:nvPr/>
          </p:nvSpPr>
          <p:spPr>
            <a:xfrm>
              <a:off x="0" y="-38100"/>
              <a:ext cx="1319133" cy="120074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9410060" y="8903538"/>
            <a:ext cx="709523" cy="709523"/>
          </a:xfrm>
          <a:custGeom>
            <a:avLst/>
            <a:gdLst/>
            <a:ahLst/>
            <a:cxnLst/>
            <a:rect r="r" b="b" t="t" l="l"/>
            <a:pathLst>
              <a:path h="709523" w="709523">
                <a:moveTo>
                  <a:pt x="0" y="0"/>
                </a:moveTo>
                <a:lnTo>
                  <a:pt x="709523" y="0"/>
                </a:lnTo>
                <a:lnTo>
                  <a:pt x="709523" y="709524"/>
                </a:lnTo>
                <a:lnTo>
                  <a:pt x="0" y="709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996952" y="1679146"/>
            <a:ext cx="8932875" cy="4410607"/>
          </a:xfrm>
          <a:custGeom>
            <a:avLst/>
            <a:gdLst/>
            <a:ahLst/>
            <a:cxnLst/>
            <a:rect r="r" b="b" t="t" l="l"/>
            <a:pathLst>
              <a:path h="4410607" w="8932875">
                <a:moveTo>
                  <a:pt x="0" y="0"/>
                </a:moveTo>
                <a:lnTo>
                  <a:pt x="8932876" y="0"/>
                </a:lnTo>
                <a:lnTo>
                  <a:pt x="8932876" y="4410607"/>
                </a:lnTo>
                <a:lnTo>
                  <a:pt x="0" y="4410607"/>
                </a:lnTo>
                <a:lnTo>
                  <a:pt x="0" y="0"/>
                </a:lnTo>
                <a:close/>
              </a:path>
            </a:pathLst>
          </a:custGeom>
          <a:blipFill>
            <a:blip r:embed="rId4"/>
            <a:stretch>
              <a:fillRect l="0" t="0" r="0" b="0"/>
            </a:stretch>
          </a:blipFill>
        </p:spPr>
      </p:sp>
      <p:sp>
        <p:nvSpPr>
          <p:cNvPr name="TextBox 8" id="8"/>
          <p:cNvSpPr txBox="true"/>
          <p:nvPr/>
        </p:nvSpPr>
        <p:spPr>
          <a:xfrm rot="0">
            <a:off x="996952" y="6373598"/>
            <a:ext cx="8767869" cy="3171938"/>
          </a:xfrm>
          <a:prstGeom prst="rect">
            <a:avLst/>
          </a:prstGeom>
        </p:spPr>
        <p:txBody>
          <a:bodyPr anchor="t" rtlCol="false" tIns="0" lIns="0" bIns="0" rIns="0">
            <a:spAutoFit/>
          </a:bodyPr>
          <a:lstStyle/>
          <a:p>
            <a:pPr algn="l">
              <a:lnSpc>
                <a:spcPts val="8400"/>
              </a:lnSpc>
            </a:pPr>
            <a:r>
              <a:rPr lang="en-US" sz="6000">
                <a:solidFill>
                  <a:srgbClr val="000000"/>
                </a:solidFill>
                <a:latin typeface="League Spartan"/>
                <a:ea typeface="League Spartan"/>
                <a:cs typeface="League Spartan"/>
                <a:sym typeface="League Spartan"/>
              </a:rPr>
              <a:t>Thử nghiệm 3 : </a:t>
            </a:r>
          </a:p>
          <a:p>
            <a:pPr algn="l">
              <a:lnSpc>
                <a:spcPts val="8400"/>
              </a:lnSpc>
              <a:spcBef>
                <a:spcPct val="0"/>
              </a:spcBef>
            </a:pPr>
            <a:r>
              <a:rPr lang="en-US" sz="6000">
                <a:solidFill>
                  <a:srgbClr val="000000"/>
                </a:solidFill>
                <a:latin typeface="League Spartan"/>
                <a:ea typeface="League Spartan"/>
                <a:cs typeface="League Spartan"/>
                <a:sym typeface="League Spartan"/>
              </a:rPr>
              <a:t>CNN_Deep3_Augmentation_Balanced</a:t>
            </a:r>
          </a:p>
        </p:txBody>
      </p:sp>
      <p:sp>
        <p:nvSpPr>
          <p:cNvPr name="TextBox 9" id="9"/>
          <p:cNvSpPr txBox="true"/>
          <p:nvPr/>
        </p:nvSpPr>
        <p:spPr>
          <a:xfrm rot="0">
            <a:off x="10425163" y="2630904"/>
            <a:ext cx="2475570" cy="1044689"/>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Vẫn giống các bước tiền xử lí bên thử nghiệm 1, 2</a:t>
            </a:r>
          </a:p>
        </p:txBody>
      </p:sp>
      <p:sp>
        <p:nvSpPr>
          <p:cNvPr name="TextBox 10" id="10"/>
          <p:cNvSpPr txBox="true"/>
          <p:nvPr/>
        </p:nvSpPr>
        <p:spPr>
          <a:xfrm rot="0">
            <a:off x="10425163" y="1621996"/>
            <a:ext cx="6834137" cy="46482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Tiền xử lý dữ liệu (Data Preprocessing)</a:t>
            </a:r>
          </a:p>
        </p:txBody>
      </p:sp>
      <p:sp>
        <p:nvSpPr>
          <p:cNvPr name="TextBox 11" id="11"/>
          <p:cNvSpPr txBox="true"/>
          <p:nvPr/>
        </p:nvSpPr>
        <p:spPr>
          <a:xfrm rot="0">
            <a:off x="10430616" y="4373748"/>
            <a:ext cx="6834137"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Canva Sans Bold"/>
                <a:ea typeface="Canva Sans Bold"/>
                <a:cs typeface="Canva Sans Bold"/>
                <a:sym typeface="Canva Sans Bold"/>
              </a:rPr>
              <a:t>Kiến trúc Mô hình và cấu hình training</a:t>
            </a:r>
          </a:p>
        </p:txBody>
      </p:sp>
      <p:sp>
        <p:nvSpPr>
          <p:cNvPr name="AutoShape 12" id="12"/>
          <p:cNvSpPr/>
          <p:nvPr/>
        </p:nvSpPr>
        <p:spPr>
          <a:xfrm>
            <a:off x="10430616" y="4981443"/>
            <a:ext cx="6839590" cy="0"/>
          </a:xfrm>
          <a:prstGeom prst="line">
            <a:avLst/>
          </a:prstGeom>
          <a:ln cap="flat" w="19050">
            <a:solidFill>
              <a:srgbClr val="000000"/>
            </a:solidFill>
            <a:prstDash val="solid"/>
            <a:headEnd type="none" len="sm" w="sm"/>
            <a:tailEnd type="none" len="sm" w="sm"/>
          </a:ln>
        </p:spPr>
      </p:sp>
      <p:sp>
        <p:nvSpPr>
          <p:cNvPr name="TextBox 13" id="13"/>
          <p:cNvSpPr txBox="true"/>
          <p:nvPr/>
        </p:nvSpPr>
        <p:spPr>
          <a:xfrm rot="0">
            <a:off x="10651487" y="5381493"/>
            <a:ext cx="2973910" cy="2102077"/>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Mô hình: Giữ nguyên kiến trúc CNN Deep3 (để đảm bảo tính công bằng khi so sánh tác động của Augmentation)</a:t>
            </a:r>
          </a:p>
        </p:txBody>
      </p:sp>
      <p:sp>
        <p:nvSpPr>
          <p:cNvPr name="TextBox 14" id="14"/>
          <p:cNvSpPr txBox="true"/>
          <p:nvPr/>
        </p:nvSpPr>
        <p:spPr>
          <a:xfrm rot="0">
            <a:off x="14347057" y="5381493"/>
            <a:ext cx="2902718" cy="692226"/>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Tăng số vòng lặp (Epochs): 100 lên 200</a:t>
            </a:r>
          </a:p>
        </p:txBody>
      </p:sp>
      <p:sp>
        <p:nvSpPr>
          <p:cNvPr name="TextBox 15" id="15"/>
          <p:cNvSpPr txBox="true"/>
          <p:nvPr/>
        </p:nvSpPr>
        <p:spPr>
          <a:xfrm rot="0">
            <a:off x="14347057" y="2441216"/>
            <a:ext cx="2902718" cy="1749614"/>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Class Weighting (Trọng số lớp): Sử dụng kỹ thuật gán trọng số nghịch đảo với tần suất xuất hiện.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99951" y="1388162"/>
            <a:ext cx="15688098" cy="7510677"/>
          </a:xfrm>
          <a:custGeom>
            <a:avLst/>
            <a:gdLst/>
            <a:ahLst/>
            <a:cxnLst/>
            <a:rect r="r" b="b" t="t" l="l"/>
            <a:pathLst>
              <a:path h="7510677" w="15688098">
                <a:moveTo>
                  <a:pt x="0" y="0"/>
                </a:moveTo>
                <a:lnTo>
                  <a:pt x="15688098" y="0"/>
                </a:lnTo>
                <a:lnTo>
                  <a:pt x="15688098" y="7510676"/>
                </a:lnTo>
                <a:lnTo>
                  <a:pt x="0" y="7510676"/>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8789238" y="9258300"/>
            <a:ext cx="709523" cy="709523"/>
          </a:xfrm>
          <a:custGeom>
            <a:avLst/>
            <a:gdLst/>
            <a:ahLst/>
            <a:cxnLst/>
            <a:rect r="r" b="b" t="t" l="l"/>
            <a:pathLst>
              <a:path h="709523" w="709523">
                <a:moveTo>
                  <a:pt x="0" y="0"/>
                </a:moveTo>
                <a:lnTo>
                  <a:pt x="709524" y="0"/>
                </a:lnTo>
                <a:lnTo>
                  <a:pt x="709524" y="709523"/>
                </a:lnTo>
                <a:lnTo>
                  <a:pt x="0" y="709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25427" y="1028700"/>
            <a:ext cx="10727624" cy="8229600"/>
          </a:xfrm>
          <a:custGeom>
            <a:avLst/>
            <a:gdLst/>
            <a:ahLst/>
            <a:cxnLst/>
            <a:rect r="r" b="b" t="t" l="l"/>
            <a:pathLst>
              <a:path h="8229600" w="10727624">
                <a:moveTo>
                  <a:pt x="0" y="0"/>
                </a:moveTo>
                <a:lnTo>
                  <a:pt x="10727623" y="0"/>
                </a:lnTo>
                <a:lnTo>
                  <a:pt x="10727623" y="8229600"/>
                </a:lnTo>
                <a:lnTo>
                  <a:pt x="0" y="8229600"/>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297487" y="6076545"/>
            <a:ext cx="16225147" cy="161925"/>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028700" y="2424875"/>
            <a:ext cx="16230600" cy="2718625"/>
          </a:xfrm>
          <a:custGeom>
            <a:avLst/>
            <a:gdLst/>
            <a:ahLst/>
            <a:cxnLst/>
            <a:rect r="r" b="b" t="t" l="l"/>
            <a:pathLst>
              <a:path h="2718625" w="16230600">
                <a:moveTo>
                  <a:pt x="0" y="0"/>
                </a:moveTo>
                <a:lnTo>
                  <a:pt x="16230600" y="0"/>
                </a:lnTo>
                <a:lnTo>
                  <a:pt x="16230600" y="2718625"/>
                </a:lnTo>
                <a:lnTo>
                  <a:pt x="0" y="2718625"/>
                </a:lnTo>
                <a:lnTo>
                  <a:pt x="0" y="0"/>
                </a:lnTo>
                <a:close/>
              </a:path>
            </a:pathLst>
          </a:custGeom>
          <a:blipFill>
            <a:blip r:embed="rId2"/>
            <a:stretch>
              <a:fillRect l="0" t="0" r="0" b="0"/>
            </a:stretch>
          </a:blipFill>
        </p:spPr>
      </p:sp>
      <p:sp>
        <p:nvSpPr>
          <p:cNvPr name="TextBox 4" id="4"/>
          <p:cNvSpPr txBox="true"/>
          <p:nvPr/>
        </p:nvSpPr>
        <p:spPr>
          <a:xfrm rot="0">
            <a:off x="5726932" y="5448300"/>
            <a:ext cx="6834137"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Canva Sans Bold"/>
                <a:ea typeface="Canva Sans Bold"/>
                <a:cs typeface="Canva Sans Bold"/>
                <a:sym typeface="Canva Sans Bold"/>
              </a:rPr>
              <a:t>Nhận xét</a:t>
            </a:r>
          </a:p>
        </p:txBody>
      </p:sp>
      <p:sp>
        <p:nvSpPr>
          <p:cNvPr name="TextBox 5" id="5"/>
          <p:cNvSpPr txBox="true"/>
          <p:nvPr/>
        </p:nvSpPr>
        <p:spPr>
          <a:xfrm rot="0">
            <a:off x="1028700" y="895350"/>
            <a:ext cx="16225147" cy="1171990"/>
          </a:xfrm>
          <a:prstGeom prst="rect">
            <a:avLst/>
          </a:prstGeom>
        </p:spPr>
        <p:txBody>
          <a:bodyPr anchor="t" rtlCol="false" tIns="0" lIns="0" bIns="0" rIns="0">
            <a:spAutoFit/>
          </a:bodyPr>
          <a:lstStyle/>
          <a:p>
            <a:pPr algn="l">
              <a:lnSpc>
                <a:spcPts val="9558"/>
              </a:lnSpc>
              <a:spcBef>
                <a:spcPct val="0"/>
              </a:spcBef>
            </a:pPr>
            <a:r>
              <a:rPr lang="en-US" sz="6827">
                <a:solidFill>
                  <a:srgbClr val="000000"/>
                </a:solidFill>
                <a:latin typeface="League Spartan"/>
                <a:ea typeface="League Spartan"/>
                <a:cs typeface="League Spartan"/>
                <a:sym typeface="League Spartan"/>
              </a:rPr>
              <a:t>BẢNG SO SÁNH KẾT QUẢ</a:t>
            </a:r>
          </a:p>
        </p:txBody>
      </p:sp>
      <p:sp>
        <p:nvSpPr>
          <p:cNvPr name="TextBox 6" id="6"/>
          <p:cNvSpPr txBox="true"/>
          <p:nvPr/>
        </p:nvSpPr>
        <p:spPr>
          <a:xfrm rot="0">
            <a:off x="1297487" y="6571844"/>
            <a:ext cx="3137748" cy="2807003"/>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mô hình CNN_Deep3_Augmentation (sử dụng tăng cường dữ liệu nhưng không can thiệp trọng số lớp) đạt hiệu suất cao nhất với độ chính xác 81.94% và F1-Score 0.7267.</a:t>
            </a:r>
          </a:p>
        </p:txBody>
      </p:sp>
      <p:sp>
        <p:nvSpPr>
          <p:cNvPr name="TextBox 7" id="7"/>
          <p:cNvSpPr txBox="true"/>
          <p:nvPr/>
        </p:nvSpPr>
        <p:spPr>
          <a:xfrm rot="0">
            <a:off x="13711343" y="6571844"/>
            <a:ext cx="3542504" cy="2807003"/>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CNN_Deep3 vẫn bị Overfitting (chênh lệch Train-Test khoảng 15%), nhưng đỡ hơn Deep2. Tuy nhiên, hiệu suất Test vẫn thấp hơn đáng kể so với phiên bản có Augmentation (81.94%)</a:t>
            </a:r>
          </a:p>
        </p:txBody>
      </p:sp>
      <p:sp>
        <p:nvSpPr>
          <p:cNvPr name="TextBox 8" id="8"/>
          <p:cNvSpPr txBox="true"/>
          <p:nvPr/>
        </p:nvSpPr>
        <p:spPr>
          <a:xfrm rot="0">
            <a:off x="9472577" y="6571844"/>
            <a:ext cx="3543441" cy="2102077"/>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Mô hình CNN_Deep2 bị Overfitting (Quá khớp) cực nặng. Train Accuracy đạt tuyệt đối 100% (1.0000) nhưng Test Accuracy chỉ đạt 73.60%</a:t>
            </a:r>
          </a:p>
        </p:txBody>
      </p:sp>
      <p:sp>
        <p:nvSpPr>
          <p:cNvPr name="TextBox 9" id="9"/>
          <p:cNvSpPr txBox="true"/>
          <p:nvPr/>
        </p:nvSpPr>
        <p:spPr>
          <a:xfrm rot="0">
            <a:off x="5127023" y="6571844"/>
            <a:ext cx="3650228" cy="2807003"/>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 phương pháp Class Weighting để giải quyết vấn đề mất cân bằng dữ liệu của RAF-DB (mô hình CNN_Deep3_Augmentation_Balanced), kết quả cho thấy hiệu suất giảm nhẹ trên cả Accuracy lẫn Macro Recall.</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10800000">
            <a:off x="4401477" y="2223681"/>
            <a:ext cx="5008583" cy="4414433"/>
            <a:chOff x="0" y="0"/>
            <a:chExt cx="1319133" cy="1162649"/>
          </a:xfrm>
        </p:grpSpPr>
        <p:sp>
          <p:nvSpPr>
            <p:cNvPr name="Freeform 3" id="3"/>
            <p:cNvSpPr/>
            <p:nvPr/>
          </p:nvSpPr>
          <p:spPr>
            <a:xfrm flipH="false" flipV="false" rot="0">
              <a:off x="0" y="0"/>
              <a:ext cx="1319133" cy="1162649"/>
            </a:xfrm>
            <a:custGeom>
              <a:avLst/>
              <a:gdLst/>
              <a:ahLst/>
              <a:cxnLst/>
              <a:rect r="r" b="b" t="t" l="l"/>
              <a:pathLst>
                <a:path h="1162649" w="1319133">
                  <a:moveTo>
                    <a:pt x="0" y="0"/>
                  </a:moveTo>
                  <a:lnTo>
                    <a:pt x="1319133" y="0"/>
                  </a:lnTo>
                  <a:lnTo>
                    <a:pt x="1319133" y="1162649"/>
                  </a:lnTo>
                  <a:lnTo>
                    <a:pt x="0" y="1162649"/>
                  </a:lnTo>
                  <a:close/>
                </a:path>
              </a:pathLst>
            </a:custGeom>
            <a:gradFill rotWithShape="true">
              <a:gsLst>
                <a:gs pos="0">
                  <a:srgbClr val="EEEEEE">
                    <a:alpha val="100000"/>
                  </a:srgbClr>
                </a:gs>
                <a:gs pos="100000">
                  <a:srgbClr val="EEEEEE">
                    <a:alpha val="0"/>
                  </a:srgbClr>
                </a:gs>
              </a:gsLst>
              <a:lin ang="0"/>
            </a:gradFill>
          </p:spPr>
        </p:sp>
        <p:sp>
          <p:nvSpPr>
            <p:cNvPr name="TextBox 4" id="4"/>
            <p:cNvSpPr txBox="true"/>
            <p:nvPr/>
          </p:nvSpPr>
          <p:spPr>
            <a:xfrm>
              <a:off x="0" y="-38100"/>
              <a:ext cx="1319133" cy="120074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100319" y="706413"/>
            <a:ext cx="14087362" cy="5611340"/>
          </a:xfrm>
          <a:custGeom>
            <a:avLst/>
            <a:gdLst/>
            <a:ahLst/>
            <a:cxnLst/>
            <a:rect r="r" b="b" t="t" l="l"/>
            <a:pathLst>
              <a:path h="5611340" w="14087362">
                <a:moveTo>
                  <a:pt x="0" y="0"/>
                </a:moveTo>
                <a:lnTo>
                  <a:pt x="14087362" y="0"/>
                </a:lnTo>
                <a:lnTo>
                  <a:pt x="14087362" y="5611340"/>
                </a:lnTo>
                <a:lnTo>
                  <a:pt x="0" y="5611340"/>
                </a:lnTo>
                <a:lnTo>
                  <a:pt x="0" y="0"/>
                </a:lnTo>
                <a:close/>
              </a:path>
            </a:pathLst>
          </a:custGeom>
          <a:blipFill>
            <a:blip r:embed="rId2"/>
            <a:stretch>
              <a:fillRect l="-486" t="0" r="-486" b="-115237"/>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7223214" y="3681382"/>
            <a:ext cx="10036086" cy="5576918"/>
            <a:chOff x="0" y="0"/>
            <a:chExt cx="1191385" cy="662037"/>
          </a:xfrm>
        </p:grpSpPr>
        <p:sp>
          <p:nvSpPr>
            <p:cNvPr name="Freeform 3" id="3"/>
            <p:cNvSpPr/>
            <p:nvPr/>
          </p:nvSpPr>
          <p:spPr>
            <a:xfrm flipH="false" flipV="false" rot="0">
              <a:off x="0" y="0"/>
              <a:ext cx="1191385" cy="662037"/>
            </a:xfrm>
            <a:custGeom>
              <a:avLst/>
              <a:gdLst/>
              <a:ahLst/>
              <a:cxnLst/>
              <a:rect r="r" b="b" t="t" l="l"/>
              <a:pathLst>
                <a:path h="662037" w="1191385">
                  <a:moveTo>
                    <a:pt x="0" y="0"/>
                  </a:moveTo>
                  <a:lnTo>
                    <a:pt x="1191385" y="0"/>
                  </a:lnTo>
                  <a:lnTo>
                    <a:pt x="1191385" y="662037"/>
                  </a:lnTo>
                  <a:lnTo>
                    <a:pt x="0" y="662037"/>
                  </a:lnTo>
                  <a:close/>
                </a:path>
              </a:pathLst>
            </a:custGeom>
            <a:blipFill>
              <a:blip r:embed="rId2"/>
              <a:stretch>
                <a:fillRect l="0" t="-9876" r="0" b="-9876"/>
              </a:stretch>
            </a:blipFill>
          </p:spPr>
        </p:sp>
      </p:grpSp>
      <p:grpSp>
        <p:nvGrpSpPr>
          <p:cNvPr name="Group 4" id="4"/>
          <p:cNvGrpSpPr/>
          <p:nvPr/>
        </p:nvGrpSpPr>
        <p:grpSpPr>
          <a:xfrm rot="-10800000">
            <a:off x="14436111" y="3932862"/>
            <a:ext cx="3091117" cy="6038889"/>
            <a:chOff x="0" y="0"/>
            <a:chExt cx="814121" cy="1590489"/>
          </a:xfrm>
        </p:grpSpPr>
        <p:sp>
          <p:nvSpPr>
            <p:cNvPr name="Freeform 5" id="5"/>
            <p:cNvSpPr/>
            <p:nvPr/>
          </p:nvSpPr>
          <p:spPr>
            <a:xfrm flipH="false" flipV="false" rot="0">
              <a:off x="0" y="0"/>
              <a:ext cx="814121" cy="1590489"/>
            </a:xfrm>
            <a:custGeom>
              <a:avLst/>
              <a:gdLst/>
              <a:ahLst/>
              <a:cxnLst/>
              <a:rect r="r" b="b" t="t" l="l"/>
              <a:pathLst>
                <a:path h="1590489" w="814121">
                  <a:moveTo>
                    <a:pt x="0" y="0"/>
                  </a:moveTo>
                  <a:lnTo>
                    <a:pt x="814121" y="0"/>
                  </a:lnTo>
                  <a:lnTo>
                    <a:pt x="814121" y="1590489"/>
                  </a:lnTo>
                  <a:lnTo>
                    <a:pt x="0" y="1590489"/>
                  </a:lnTo>
                  <a:close/>
                </a:path>
              </a:pathLst>
            </a:custGeom>
            <a:gradFill rotWithShape="true">
              <a:gsLst>
                <a:gs pos="0">
                  <a:srgbClr val="EEEEEE">
                    <a:alpha val="100000"/>
                  </a:srgbClr>
                </a:gs>
                <a:gs pos="100000">
                  <a:srgbClr val="EEEEEE">
                    <a:alpha val="0"/>
                  </a:srgbClr>
                </a:gs>
              </a:gsLst>
              <a:lin ang="0"/>
            </a:gradFill>
            <a:ln cap="sq">
              <a:noFill/>
              <a:prstDash val="solid"/>
              <a:miter/>
            </a:ln>
          </p:spPr>
        </p:sp>
        <p:sp>
          <p:nvSpPr>
            <p:cNvPr name="TextBox 6" id="6"/>
            <p:cNvSpPr txBox="true"/>
            <p:nvPr/>
          </p:nvSpPr>
          <p:spPr>
            <a:xfrm>
              <a:off x="0" y="-38100"/>
              <a:ext cx="814121" cy="162858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7" id="7"/>
          <p:cNvSpPr/>
          <p:nvPr/>
        </p:nvSpPr>
        <p:spPr>
          <a:xfrm flipV="true">
            <a:off x="1028713" y="3923337"/>
            <a:ext cx="5064500" cy="9525"/>
          </a:xfrm>
          <a:prstGeom prst="line">
            <a:avLst/>
          </a:prstGeom>
          <a:ln cap="flat" w="19050">
            <a:solidFill>
              <a:srgbClr val="000000"/>
            </a:solidFill>
            <a:prstDash val="solid"/>
            <a:headEnd type="none" len="sm" w="sm"/>
            <a:tailEnd type="none" len="sm" w="sm"/>
          </a:ln>
        </p:spPr>
      </p:sp>
      <p:sp>
        <p:nvSpPr>
          <p:cNvPr name="Freeform 8" id="8"/>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9" id="9"/>
          <p:cNvSpPr/>
          <p:nvPr/>
        </p:nvSpPr>
        <p:spPr>
          <a:xfrm flipV="true">
            <a:off x="1028731" y="2694493"/>
            <a:ext cx="5064500" cy="9525"/>
          </a:xfrm>
          <a:prstGeom prst="line">
            <a:avLst/>
          </a:prstGeom>
          <a:ln cap="flat" w="19050">
            <a:solidFill>
              <a:srgbClr val="000000"/>
            </a:solidFill>
            <a:prstDash val="solid"/>
            <a:headEnd type="none" len="sm" w="sm"/>
            <a:tailEnd type="none" len="sm" w="sm"/>
          </a:ln>
        </p:spPr>
      </p:sp>
      <p:sp>
        <p:nvSpPr>
          <p:cNvPr name="Freeform 10" id="10"/>
          <p:cNvSpPr/>
          <p:nvPr/>
        </p:nvSpPr>
        <p:spPr>
          <a:xfrm flipH="false" flipV="false" rot="0">
            <a:off x="16549777" y="8548777"/>
            <a:ext cx="709523" cy="709523"/>
          </a:xfrm>
          <a:custGeom>
            <a:avLst/>
            <a:gdLst/>
            <a:ahLst/>
            <a:cxnLst/>
            <a:rect r="r" b="b" t="t" l="l"/>
            <a:pathLst>
              <a:path h="709523" w="709523">
                <a:moveTo>
                  <a:pt x="0" y="0"/>
                </a:moveTo>
                <a:lnTo>
                  <a:pt x="709523" y="0"/>
                </a:lnTo>
                <a:lnTo>
                  <a:pt x="709523" y="709523"/>
                </a:lnTo>
                <a:lnTo>
                  <a:pt x="0" y="709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28731" y="3052693"/>
            <a:ext cx="5064514" cy="46482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Mô hình chọn </a:t>
            </a:r>
          </a:p>
        </p:txBody>
      </p:sp>
      <p:sp>
        <p:nvSpPr>
          <p:cNvPr name="TextBox 12" id="12"/>
          <p:cNvSpPr txBox="true"/>
          <p:nvPr/>
        </p:nvSpPr>
        <p:spPr>
          <a:xfrm rot="0">
            <a:off x="7389842" y="2378967"/>
            <a:ext cx="10070338" cy="1140046"/>
          </a:xfrm>
          <a:prstGeom prst="rect">
            <a:avLst/>
          </a:prstGeom>
        </p:spPr>
        <p:txBody>
          <a:bodyPr anchor="t" rtlCol="false" tIns="0" lIns="0" bIns="0" rIns="0">
            <a:spAutoFit/>
          </a:bodyPr>
          <a:lstStyle/>
          <a:p>
            <a:pPr algn="l">
              <a:lnSpc>
                <a:spcPts val="9375"/>
              </a:lnSpc>
              <a:spcBef>
                <a:spcPct val="0"/>
              </a:spcBef>
            </a:pPr>
            <a:r>
              <a:rPr lang="en-US" sz="6696">
                <a:solidFill>
                  <a:srgbClr val="000000"/>
                </a:solidFill>
                <a:latin typeface="League Spartan"/>
                <a:ea typeface="League Spartan"/>
                <a:cs typeface="League Spartan"/>
                <a:sym typeface="League Spartan"/>
              </a:rPr>
              <a:t>SẢN PHẨM CUỐI CÙNG</a:t>
            </a:r>
          </a:p>
        </p:txBody>
      </p:sp>
      <p:sp>
        <p:nvSpPr>
          <p:cNvPr name="TextBox 13" id="13"/>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14" id="14"/>
          <p:cNvSpPr txBox="true"/>
          <p:nvPr/>
        </p:nvSpPr>
        <p:spPr>
          <a:xfrm rot="0">
            <a:off x="1562636" y="4919875"/>
            <a:ext cx="5064514" cy="692226"/>
          </a:xfrm>
          <a:prstGeom prst="rect">
            <a:avLst/>
          </a:prstGeom>
        </p:spPr>
        <p:txBody>
          <a:bodyPr anchor="t" rtlCol="false" tIns="0" lIns="0" bIns="0" rIns="0">
            <a:spAutoFit/>
          </a:bodyPr>
          <a:lstStyle/>
          <a:p>
            <a:pPr algn="l">
              <a:lnSpc>
                <a:spcPts val="2799"/>
              </a:lnSpc>
              <a:spcBef>
                <a:spcPct val="0"/>
              </a:spcBef>
            </a:pPr>
            <a:r>
              <a:rPr lang="en-US" sz="1999">
                <a:solidFill>
                  <a:srgbClr val="FF3A3A"/>
                </a:solidFill>
                <a:latin typeface="Canva Sans"/>
                <a:ea typeface="Canva Sans"/>
                <a:cs typeface="Canva Sans"/>
                <a:sym typeface="Canva Sans"/>
              </a:rPr>
              <a:t>Mô hình CNN với augmentation dữ liệu để tăng cường đa dạng dữ liệu.</a:t>
            </a:r>
          </a:p>
        </p:txBody>
      </p:sp>
      <p:sp>
        <p:nvSpPr>
          <p:cNvPr name="TextBox 15" id="15"/>
          <p:cNvSpPr txBox="true"/>
          <p:nvPr/>
        </p:nvSpPr>
        <p:spPr>
          <a:xfrm rot="0">
            <a:off x="1028700" y="4304337"/>
            <a:ext cx="5064514" cy="339763"/>
          </a:xfrm>
          <a:prstGeom prst="rect">
            <a:avLst/>
          </a:prstGeom>
        </p:spPr>
        <p:txBody>
          <a:bodyPr anchor="t" rtlCol="false" tIns="0" lIns="0" bIns="0" rIns="0">
            <a:spAutoFit/>
          </a:bodyPr>
          <a:lstStyle/>
          <a:p>
            <a:pPr algn="l">
              <a:lnSpc>
                <a:spcPts val="2799"/>
              </a:lnSpc>
              <a:spcBef>
                <a:spcPct val="0"/>
              </a:spcBef>
            </a:pPr>
            <a:r>
              <a:rPr lang="en-US" b="true" sz="1999" i="true">
                <a:solidFill>
                  <a:srgbClr val="FF3A3A"/>
                </a:solidFill>
                <a:latin typeface="Canva Sans Bold Italics"/>
                <a:ea typeface="Canva Sans Bold Italics"/>
                <a:cs typeface="Canva Sans Bold Italics"/>
                <a:sym typeface="Canva Sans Bold Italics"/>
              </a:rPr>
              <a:t>CNN_Deep3_Augmentation</a:t>
            </a:r>
          </a:p>
        </p:txBody>
      </p:sp>
      <p:sp>
        <p:nvSpPr>
          <p:cNvPr name="TextBox 16" id="16"/>
          <p:cNvSpPr txBox="true"/>
          <p:nvPr/>
        </p:nvSpPr>
        <p:spPr>
          <a:xfrm rot="0">
            <a:off x="1562636" y="6418140"/>
            <a:ext cx="5064514" cy="1044689"/>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Mô hình CNN với augmentation và cân bằng lớp (balanced) để xử lý imbalance data.</a:t>
            </a:r>
          </a:p>
        </p:txBody>
      </p:sp>
      <p:sp>
        <p:nvSpPr>
          <p:cNvPr name="TextBox 17" id="17"/>
          <p:cNvSpPr txBox="true"/>
          <p:nvPr/>
        </p:nvSpPr>
        <p:spPr>
          <a:xfrm rot="0">
            <a:off x="1028700" y="5887877"/>
            <a:ext cx="5064514" cy="339763"/>
          </a:xfrm>
          <a:prstGeom prst="rect">
            <a:avLst/>
          </a:prstGeom>
        </p:spPr>
        <p:txBody>
          <a:bodyPr anchor="t" rtlCol="false" tIns="0" lIns="0" bIns="0" rIns="0">
            <a:spAutoFit/>
          </a:bodyPr>
          <a:lstStyle/>
          <a:p>
            <a:pPr algn="l">
              <a:lnSpc>
                <a:spcPts val="2799"/>
              </a:lnSpc>
              <a:spcBef>
                <a:spcPct val="0"/>
              </a:spcBef>
            </a:pPr>
            <a:r>
              <a:rPr lang="en-US" b="true" sz="1999" i="true">
                <a:solidFill>
                  <a:srgbClr val="000000"/>
                </a:solidFill>
                <a:latin typeface="Canva Sans Bold Italics"/>
                <a:ea typeface="Canva Sans Bold Italics"/>
                <a:cs typeface="Canva Sans Bold Italics"/>
                <a:sym typeface="Canva Sans Bold Italics"/>
              </a:rPr>
              <a:t>CNN_Deep3_Augmentation_Balanced</a:t>
            </a:r>
          </a:p>
        </p:txBody>
      </p:sp>
      <p:sp>
        <p:nvSpPr>
          <p:cNvPr name="TextBox 18" id="18"/>
          <p:cNvSpPr txBox="true"/>
          <p:nvPr/>
        </p:nvSpPr>
        <p:spPr>
          <a:xfrm rot="0">
            <a:off x="1562636" y="8183592"/>
            <a:ext cx="5064514" cy="692226"/>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Canva Sans"/>
                <a:ea typeface="Canva Sans"/>
                <a:cs typeface="Canva Sans"/>
                <a:sym typeface="Canva Sans"/>
              </a:rPr>
              <a:t>Mô hình CNN cơ bản (Deep3 layers) mà không có augmentation dữ liệu.</a:t>
            </a:r>
          </a:p>
        </p:txBody>
      </p:sp>
      <p:sp>
        <p:nvSpPr>
          <p:cNvPr name="TextBox 19" id="19"/>
          <p:cNvSpPr txBox="true"/>
          <p:nvPr/>
        </p:nvSpPr>
        <p:spPr>
          <a:xfrm rot="0">
            <a:off x="1028700" y="7653329"/>
            <a:ext cx="5064514" cy="339763"/>
          </a:xfrm>
          <a:prstGeom prst="rect">
            <a:avLst/>
          </a:prstGeom>
        </p:spPr>
        <p:txBody>
          <a:bodyPr anchor="t" rtlCol="false" tIns="0" lIns="0" bIns="0" rIns="0">
            <a:spAutoFit/>
          </a:bodyPr>
          <a:lstStyle/>
          <a:p>
            <a:pPr algn="l">
              <a:lnSpc>
                <a:spcPts val="2799"/>
              </a:lnSpc>
              <a:spcBef>
                <a:spcPct val="0"/>
              </a:spcBef>
            </a:pPr>
            <a:r>
              <a:rPr lang="en-US" b="true" sz="1999" i="true">
                <a:solidFill>
                  <a:srgbClr val="000000"/>
                </a:solidFill>
                <a:latin typeface="Canva Sans Bold Italics"/>
                <a:ea typeface="Canva Sans Bold Italics"/>
                <a:cs typeface="Canva Sans Bold Italics"/>
                <a:sym typeface="Canva Sans Bold Italics"/>
              </a:rPr>
              <a:t>CNN_Deep3</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10800000">
            <a:off x="12940786" y="1679146"/>
            <a:ext cx="5744785" cy="5143500"/>
            <a:chOff x="0" y="0"/>
            <a:chExt cx="1513030" cy="1354667"/>
          </a:xfrm>
        </p:grpSpPr>
        <p:sp>
          <p:nvSpPr>
            <p:cNvPr name="Freeform 3" id="3"/>
            <p:cNvSpPr/>
            <p:nvPr/>
          </p:nvSpPr>
          <p:spPr>
            <a:xfrm flipH="false" flipV="false" rot="0">
              <a:off x="0" y="0"/>
              <a:ext cx="1513030" cy="1354667"/>
            </a:xfrm>
            <a:custGeom>
              <a:avLst/>
              <a:gdLst/>
              <a:ahLst/>
              <a:cxnLst/>
              <a:rect r="r" b="b" t="t" l="l"/>
              <a:pathLst>
                <a:path h="1354667" w="1513030">
                  <a:moveTo>
                    <a:pt x="0" y="0"/>
                  </a:moveTo>
                  <a:lnTo>
                    <a:pt x="1513030" y="0"/>
                  </a:lnTo>
                  <a:lnTo>
                    <a:pt x="1513030" y="1354667"/>
                  </a:lnTo>
                  <a:lnTo>
                    <a:pt x="0" y="1354667"/>
                  </a:lnTo>
                  <a:close/>
                </a:path>
              </a:pathLst>
            </a:custGeom>
            <a:gradFill rotWithShape="true">
              <a:gsLst>
                <a:gs pos="0">
                  <a:srgbClr val="EEEEEE">
                    <a:alpha val="100000"/>
                  </a:srgbClr>
                </a:gs>
                <a:gs pos="100000">
                  <a:srgbClr val="EEEEEE">
                    <a:alpha val="0"/>
                  </a:srgbClr>
                </a:gs>
              </a:gsLst>
              <a:lin ang="0"/>
            </a:gradFill>
            <a:ln cap="sq">
              <a:noFill/>
              <a:prstDash val="solid"/>
              <a:miter/>
            </a:ln>
          </p:spPr>
        </p:sp>
        <p:sp>
          <p:nvSpPr>
            <p:cNvPr name="TextBox 4" id="4"/>
            <p:cNvSpPr txBox="true"/>
            <p:nvPr/>
          </p:nvSpPr>
          <p:spPr>
            <a:xfrm>
              <a:off x="0" y="-38100"/>
              <a:ext cx="1513030" cy="13927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2698310" y="1485629"/>
            <a:ext cx="1006681" cy="8225852"/>
            <a:chOff x="0" y="0"/>
            <a:chExt cx="265134" cy="2166479"/>
          </a:xfrm>
        </p:grpSpPr>
        <p:sp>
          <p:nvSpPr>
            <p:cNvPr name="Freeform 7" id="7"/>
            <p:cNvSpPr/>
            <p:nvPr/>
          </p:nvSpPr>
          <p:spPr>
            <a:xfrm flipH="false" flipV="false" rot="0">
              <a:off x="0" y="0"/>
              <a:ext cx="265134" cy="2166479"/>
            </a:xfrm>
            <a:custGeom>
              <a:avLst/>
              <a:gdLst/>
              <a:ahLst/>
              <a:cxnLst/>
              <a:rect r="r" b="b" t="t" l="l"/>
              <a:pathLst>
                <a:path h="2166479" w="265134">
                  <a:moveTo>
                    <a:pt x="0" y="0"/>
                  </a:moveTo>
                  <a:lnTo>
                    <a:pt x="265134" y="0"/>
                  </a:lnTo>
                  <a:lnTo>
                    <a:pt x="265134" y="2166479"/>
                  </a:lnTo>
                  <a:lnTo>
                    <a:pt x="0" y="2166479"/>
                  </a:lnTo>
                  <a:close/>
                </a:path>
              </a:pathLst>
            </a:custGeom>
            <a:gradFill rotWithShape="true">
              <a:gsLst>
                <a:gs pos="0">
                  <a:srgbClr val="EEEEEE">
                    <a:alpha val="100000"/>
                  </a:srgbClr>
                </a:gs>
                <a:gs pos="100000">
                  <a:srgbClr val="EEEEEE">
                    <a:alpha val="0"/>
                  </a:srgbClr>
                </a:gs>
              </a:gsLst>
              <a:lin ang="0"/>
            </a:gradFill>
            <a:ln cap="sq">
              <a:noFill/>
              <a:prstDash val="solid"/>
              <a:miter/>
            </a:ln>
          </p:spPr>
        </p:sp>
        <p:sp>
          <p:nvSpPr>
            <p:cNvPr name="TextBox 8" id="8"/>
            <p:cNvSpPr txBox="true"/>
            <p:nvPr/>
          </p:nvSpPr>
          <p:spPr>
            <a:xfrm>
              <a:off x="0" y="-38100"/>
              <a:ext cx="265134" cy="220457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9" id="9"/>
          <p:cNvSpPr/>
          <p:nvPr/>
        </p:nvSpPr>
        <p:spPr>
          <a:xfrm flipH="false" flipV="false" rot="0">
            <a:off x="8996438" y="4112175"/>
            <a:ext cx="9291562" cy="5146125"/>
          </a:xfrm>
          <a:custGeom>
            <a:avLst/>
            <a:gdLst/>
            <a:ahLst/>
            <a:cxnLst/>
            <a:rect r="r" b="b" t="t" l="l"/>
            <a:pathLst>
              <a:path h="5146125" w="9291562">
                <a:moveTo>
                  <a:pt x="0" y="0"/>
                </a:moveTo>
                <a:lnTo>
                  <a:pt x="9291562" y="0"/>
                </a:lnTo>
                <a:lnTo>
                  <a:pt x="9291562" y="5146125"/>
                </a:lnTo>
                <a:lnTo>
                  <a:pt x="0" y="5146125"/>
                </a:lnTo>
                <a:lnTo>
                  <a:pt x="0" y="0"/>
                </a:lnTo>
                <a:close/>
              </a:path>
            </a:pathLst>
          </a:custGeom>
          <a:blipFill>
            <a:blip r:embed="rId4"/>
            <a:stretch>
              <a:fillRect l="0" t="0" r="-18154" b="0"/>
            </a:stretch>
          </a:blipFill>
        </p:spPr>
      </p:sp>
      <p:sp>
        <p:nvSpPr>
          <p:cNvPr name="TextBox 10" id="10"/>
          <p:cNvSpPr txBox="true"/>
          <p:nvPr/>
        </p:nvSpPr>
        <p:spPr>
          <a:xfrm rot="0">
            <a:off x="214742" y="1674226"/>
            <a:ext cx="8060024" cy="2132830"/>
          </a:xfrm>
          <a:prstGeom prst="rect">
            <a:avLst/>
          </a:prstGeom>
        </p:spPr>
        <p:txBody>
          <a:bodyPr anchor="t" rtlCol="false" tIns="0" lIns="0" bIns="0" rIns="0">
            <a:spAutoFit/>
          </a:bodyPr>
          <a:lstStyle/>
          <a:p>
            <a:pPr algn="l">
              <a:lnSpc>
                <a:spcPts val="17437"/>
              </a:lnSpc>
              <a:spcBef>
                <a:spcPct val="0"/>
              </a:spcBef>
            </a:pPr>
            <a:r>
              <a:rPr lang="en-US" sz="12455">
                <a:solidFill>
                  <a:srgbClr val="000000"/>
                </a:solidFill>
                <a:latin typeface="League Spartan"/>
                <a:ea typeface="League Spartan"/>
                <a:cs typeface="League Spartan"/>
                <a:sym typeface="League Spartan"/>
              </a:rPr>
              <a:t>Sản phẩm </a:t>
            </a:r>
          </a:p>
        </p:txBody>
      </p:sp>
      <p:sp>
        <p:nvSpPr>
          <p:cNvPr name="TextBox 11" id="11"/>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12" id="12"/>
          <p:cNvSpPr txBox="true"/>
          <p:nvPr/>
        </p:nvSpPr>
        <p:spPr>
          <a:xfrm rot="0">
            <a:off x="214742" y="4574540"/>
            <a:ext cx="8060024" cy="86042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Canva Sans Bold"/>
                <a:ea typeface="Canva Sans Bold"/>
                <a:cs typeface="Canva Sans Bold"/>
                <a:sym typeface="Canva Sans Bold"/>
              </a:rPr>
              <a:t>Đây là một giải pháp hoàn chỉnh, đa nền tảng, cho phép phân tích cảm xúc con người.</a:t>
            </a:r>
          </a:p>
        </p:txBody>
      </p:sp>
      <p:sp>
        <p:nvSpPr>
          <p:cNvPr name="TextBox 13" id="13"/>
          <p:cNvSpPr txBox="true"/>
          <p:nvPr/>
        </p:nvSpPr>
        <p:spPr>
          <a:xfrm rot="0">
            <a:off x="214742" y="6873420"/>
            <a:ext cx="8060024" cy="129857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Canva Sans Bold"/>
                <a:ea typeface="Canva Sans Bold"/>
                <a:cs typeface="Canva Sans Bold"/>
                <a:sym typeface="Canva Sans Bold"/>
              </a:rPr>
              <a:t>Mục tiêu: Nhận diện 7 cảm xúc cơ bản (Vui, Buồn, Giận, Sợ, Ngạc nhiên, Ghê tởm, Trung tính) từ khuôn mặt trong ảnh/video.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a:off x="1028713" y="3113764"/>
            <a:ext cx="7293096"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13" y="2157530"/>
            <a:ext cx="7293110" cy="46482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FAST API</a:t>
            </a:r>
          </a:p>
        </p:txBody>
      </p:sp>
      <p:grpSp>
        <p:nvGrpSpPr>
          <p:cNvPr name="Group 5" id="5"/>
          <p:cNvGrpSpPr/>
          <p:nvPr/>
        </p:nvGrpSpPr>
        <p:grpSpPr>
          <a:xfrm rot="0">
            <a:off x="9350510" y="2214680"/>
            <a:ext cx="7908790" cy="3358183"/>
            <a:chOff x="0" y="0"/>
            <a:chExt cx="1949596" cy="827826"/>
          </a:xfrm>
        </p:grpSpPr>
        <p:sp>
          <p:nvSpPr>
            <p:cNvPr name="Freeform 6" id="6"/>
            <p:cNvSpPr/>
            <p:nvPr/>
          </p:nvSpPr>
          <p:spPr>
            <a:xfrm flipH="false" flipV="false" rot="0">
              <a:off x="0" y="0"/>
              <a:ext cx="1949596" cy="827826"/>
            </a:xfrm>
            <a:custGeom>
              <a:avLst/>
              <a:gdLst/>
              <a:ahLst/>
              <a:cxnLst/>
              <a:rect r="r" b="b" t="t" l="l"/>
              <a:pathLst>
                <a:path h="827826" w="1949596">
                  <a:moveTo>
                    <a:pt x="0" y="0"/>
                  </a:moveTo>
                  <a:lnTo>
                    <a:pt x="1949596" y="0"/>
                  </a:lnTo>
                  <a:lnTo>
                    <a:pt x="1949596" y="827826"/>
                  </a:lnTo>
                  <a:lnTo>
                    <a:pt x="0" y="827826"/>
                  </a:lnTo>
                  <a:close/>
                </a:path>
              </a:pathLst>
            </a:custGeom>
            <a:blipFill>
              <a:blip r:embed="rId4"/>
              <a:stretch>
                <a:fillRect l="-8816" t="0" r="-8816" b="0"/>
              </a:stretch>
            </a:blipFill>
          </p:spPr>
        </p:sp>
      </p:grpSp>
      <p:sp>
        <p:nvSpPr>
          <p:cNvPr name="Freeform 7" id="7"/>
          <p:cNvSpPr/>
          <p:nvPr/>
        </p:nvSpPr>
        <p:spPr>
          <a:xfrm flipH="false" flipV="false" rot="0">
            <a:off x="7612287" y="2214680"/>
            <a:ext cx="709523" cy="709523"/>
          </a:xfrm>
          <a:custGeom>
            <a:avLst/>
            <a:gdLst/>
            <a:ahLst/>
            <a:cxnLst/>
            <a:rect r="r" b="b" t="t" l="l"/>
            <a:pathLst>
              <a:path h="709523" w="709523">
                <a:moveTo>
                  <a:pt x="0" y="0"/>
                </a:moveTo>
                <a:lnTo>
                  <a:pt x="709523" y="0"/>
                </a:lnTo>
                <a:lnTo>
                  <a:pt x="709523" y="709523"/>
                </a:lnTo>
                <a:lnTo>
                  <a:pt x="0" y="709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9350510" y="5982438"/>
            <a:ext cx="8375503" cy="1102398"/>
          </a:xfrm>
          <a:prstGeom prst="rect">
            <a:avLst/>
          </a:prstGeom>
        </p:spPr>
        <p:txBody>
          <a:bodyPr anchor="t" rtlCol="false" tIns="0" lIns="0" bIns="0" rIns="0">
            <a:spAutoFit/>
          </a:bodyPr>
          <a:lstStyle/>
          <a:p>
            <a:pPr algn="ctr">
              <a:lnSpc>
                <a:spcPts val="9062"/>
              </a:lnSpc>
              <a:spcBef>
                <a:spcPct val="0"/>
              </a:spcBef>
            </a:pPr>
            <a:r>
              <a:rPr lang="en-US" sz="6473">
                <a:solidFill>
                  <a:srgbClr val="000000"/>
                </a:solidFill>
                <a:latin typeface="League Spartan"/>
                <a:ea typeface="League Spartan"/>
                <a:cs typeface="League Spartan"/>
                <a:sym typeface="League Spartan"/>
              </a:rPr>
              <a:t>ENDPOINT</a:t>
            </a:r>
          </a:p>
        </p:txBody>
      </p:sp>
      <p:sp>
        <p:nvSpPr>
          <p:cNvPr name="TextBox 9" id="9"/>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10" id="10"/>
          <p:cNvSpPr txBox="true"/>
          <p:nvPr/>
        </p:nvSpPr>
        <p:spPr>
          <a:xfrm rot="0">
            <a:off x="365092" y="3439898"/>
            <a:ext cx="8778908" cy="62579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Vai trò của FastAPI</a:t>
            </a:r>
          </a:p>
          <a:p>
            <a:pPr algn="l" marL="647694" indent="-323847" lvl="1">
              <a:lnSpc>
                <a:spcPts val="4199"/>
              </a:lnSpc>
              <a:buFont typeface="Arial"/>
              <a:buChar char="•"/>
            </a:pPr>
            <a:r>
              <a:rPr lang="en-US" sz="2999">
                <a:solidFill>
                  <a:srgbClr val="000000"/>
                </a:solidFill>
                <a:latin typeface="Canva Sans"/>
                <a:ea typeface="Canva Sans"/>
                <a:cs typeface="Canva Sans"/>
                <a:sym typeface="Canva Sans"/>
              </a:rPr>
              <a:t>Cung cấp một API hiệu suất cao, bất đồng bộ. </a:t>
            </a:r>
          </a:p>
          <a:p>
            <a:pPr algn="l" marL="647694" indent="-323847" lvl="1">
              <a:lnSpc>
                <a:spcPts val="4199"/>
              </a:lnSpc>
              <a:buFont typeface="Arial"/>
              <a:buChar char="•"/>
            </a:pPr>
            <a:r>
              <a:rPr lang="en-US" sz="2999">
                <a:solidFill>
                  <a:srgbClr val="000000"/>
                </a:solidFill>
                <a:latin typeface="Canva Sans"/>
                <a:ea typeface="Canva Sans"/>
                <a:cs typeface="Canva Sans"/>
                <a:sym typeface="Canva Sans"/>
              </a:rPr>
              <a:t>Xử lý các tác vụ nặng </a:t>
            </a:r>
          </a:p>
          <a:p>
            <a:pPr algn="l" marL="647694" indent="-323847" lvl="1">
              <a:lnSpc>
                <a:spcPts val="4199"/>
              </a:lnSpc>
              <a:buFont typeface="Arial"/>
              <a:buChar char="•"/>
            </a:pPr>
            <a:r>
              <a:rPr lang="en-US" sz="2999">
                <a:solidFill>
                  <a:srgbClr val="000000"/>
                </a:solidFill>
                <a:latin typeface="Canva Sans"/>
                <a:ea typeface="Canva Sans"/>
                <a:cs typeface="Canva Sans"/>
                <a:sym typeface="Canva Sans"/>
              </a:rPr>
              <a:t>Quản lý logic xử lý video dài (Tracking).</a:t>
            </a:r>
          </a:p>
          <a:p>
            <a:pPr algn="l">
              <a:lnSpc>
                <a:spcPts val="4199"/>
              </a:lnSpc>
              <a:spcBef>
                <a:spcPct val="0"/>
              </a:spcBef>
            </a:pPr>
            <a:r>
              <a:rPr lang="en-US" b="true" sz="2999">
                <a:solidFill>
                  <a:srgbClr val="000000"/>
                </a:solidFill>
                <a:latin typeface="Canva Sans Bold"/>
                <a:ea typeface="Canva Sans Bold"/>
                <a:cs typeface="Canva Sans Bold"/>
                <a:sym typeface="Canva Sans Bold"/>
              </a:rPr>
              <a:t>Các Endpoint Quan Trọng</a:t>
            </a:r>
          </a:p>
          <a:p>
            <a:pPr algn="l" marL="647694" indent="-323847" lvl="1">
              <a:lnSpc>
                <a:spcPts val="4199"/>
              </a:lnSpc>
              <a:buFont typeface="Arial"/>
              <a:buChar char="•"/>
            </a:pPr>
            <a:r>
              <a:rPr lang="en-US" b="true" sz="2999">
                <a:solidFill>
                  <a:srgbClr val="000000"/>
                </a:solidFill>
                <a:latin typeface="Canva Sans Bold"/>
                <a:ea typeface="Canva Sans Bold"/>
                <a:cs typeface="Canva Sans Bold"/>
                <a:sym typeface="Canva Sans Bold"/>
              </a:rPr>
              <a:t>POST /predict</a:t>
            </a:r>
            <a:r>
              <a:rPr lang="en-US" sz="2999">
                <a:solidFill>
                  <a:srgbClr val="000000"/>
                </a:solidFill>
                <a:latin typeface="Canva Sans"/>
                <a:ea typeface="Canva Sans"/>
                <a:cs typeface="Canva Sans"/>
                <a:sym typeface="Canva Sans"/>
              </a:rPr>
              <a:t> (Ảnh): Gửi ảnh, nhận về cảm xúc dự đoán và ảnh đã vẽ box. </a:t>
            </a:r>
          </a:p>
          <a:p>
            <a:pPr algn="l" marL="647694" indent="-323847" lvl="1">
              <a:lnSpc>
                <a:spcPts val="4199"/>
              </a:lnSpc>
              <a:buFont typeface="Arial"/>
              <a:buChar char="•"/>
            </a:pPr>
            <a:r>
              <a:rPr lang="en-US" b="true" sz="2999">
                <a:solidFill>
                  <a:srgbClr val="000000"/>
                </a:solidFill>
                <a:latin typeface="Canva Sans Bold"/>
                <a:ea typeface="Canva Sans Bold"/>
                <a:cs typeface="Canva Sans Bold"/>
                <a:sym typeface="Canva Sans Bold"/>
              </a:rPr>
              <a:t>POST /video_upload</a:t>
            </a:r>
            <a:r>
              <a:rPr lang="en-US" sz="2999">
                <a:solidFill>
                  <a:srgbClr val="000000"/>
                </a:solidFill>
                <a:latin typeface="Canva Sans"/>
                <a:ea typeface="Canva Sans"/>
                <a:cs typeface="Canva Sans"/>
                <a:sym typeface="Canva Sans"/>
              </a:rPr>
              <a:t> (Video): Gửi video, server xử lý và trả về một UID duy nhất. </a:t>
            </a:r>
          </a:p>
          <a:p>
            <a:pPr algn="l" marL="647694" indent="-323847" lvl="1">
              <a:lnSpc>
                <a:spcPts val="4199"/>
              </a:lnSpc>
              <a:buFont typeface="Arial"/>
              <a:buChar char="•"/>
            </a:pPr>
            <a:r>
              <a:rPr lang="en-US" b="true" sz="2999">
                <a:solidFill>
                  <a:srgbClr val="000000"/>
                </a:solidFill>
                <a:latin typeface="Canva Sans Bold"/>
                <a:ea typeface="Canva Sans Bold"/>
                <a:cs typeface="Canva Sans Bold"/>
                <a:sym typeface="Canva Sans Bold"/>
              </a:rPr>
              <a:t>GET /video_stream/{uid}</a:t>
            </a:r>
            <a:r>
              <a:rPr lang="en-US" sz="2999">
                <a:solidFill>
                  <a:srgbClr val="000000"/>
                </a:solidFill>
                <a:latin typeface="Canva Sans"/>
                <a:ea typeface="Canva Sans"/>
                <a:cs typeface="Canva Sans"/>
                <a:sym typeface="Canva Sans"/>
              </a:rPr>
              <a:t> (Lấy Video): Tải video đã được AI xử lý.</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012030" y="4083726"/>
            <a:ext cx="9864130" cy="4381500"/>
            <a:chOff x="0" y="0"/>
            <a:chExt cx="1528212" cy="678809"/>
          </a:xfrm>
        </p:grpSpPr>
        <p:sp>
          <p:nvSpPr>
            <p:cNvPr name="Freeform 3" id="3"/>
            <p:cNvSpPr/>
            <p:nvPr/>
          </p:nvSpPr>
          <p:spPr>
            <a:xfrm flipH="false" flipV="false" rot="0">
              <a:off x="0" y="0"/>
              <a:ext cx="1528212" cy="678809"/>
            </a:xfrm>
            <a:custGeom>
              <a:avLst/>
              <a:gdLst/>
              <a:ahLst/>
              <a:cxnLst/>
              <a:rect r="r" b="b" t="t" l="l"/>
              <a:pathLst>
                <a:path h="678809" w="1528212">
                  <a:moveTo>
                    <a:pt x="0" y="0"/>
                  </a:moveTo>
                  <a:lnTo>
                    <a:pt x="1528212" y="0"/>
                  </a:lnTo>
                  <a:lnTo>
                    <a:pt x="1528212" y="678809"/>
                  </a:lnTo>
                  <a:lnTo>
                    <a:pt x="0" y="678809"/>
                  </a:lnTo>
                  <a:close/>
                </a:path>
              </a:pathLst>
            </a:custGeom>
            <a:blipFill>
              <a:blip r:embed="rId2"/>
              <a:stretch>
                <a:fillRect l="0" t="-15854" r="0" b="-15854"/>
              </a:stretch>
            </a:blipFill>
          </p:spPr>
        </p:sp>
      </p:grpSp>
      <p:grpSp>
        <p:nvGrpSpPr>
          <p:cNvPr name="Group 4" id="4"/>
          <p:cNvGrpSpPr/>
          <p:nvPr/>
        </p:nvGrpSpPr>
        <p:grpSpPr>
          <a:xfrm rot="5400000">
            <a:off x="4929912" y="118086"/>
            <a:ext cx="2028366" cy="9959645"/>
            <a:chOff x="0" y="0"/>
            <a:chExt cx="534220" cy="2623116"/>
          </a:xfrm>
        </p:grpSpPr>
        <p:sp>
          <p:nvSpPr>
            <p:cNvPr name="Freeform 5" id="5"/>
            <p:cNvSpPr/>
            <p:nvPr/>
          </p:nvSpPr>
          <p:spPr>
            <a:xfrm flipH="false" flipV="false" rot="0">
              <a:off x="0" y="0"/>
              <a:ext cx="534220" cy="2623116"/>
            </a:xfrm>
            <a:custGeom>
              <a:avLst/>
              <a:gdLst/>
              <a:ahLst/>
              <a:cxnLst/>
              <a:rect r="r" b="b" t="t" l="l"/>
              <a:pathLst>
                <a:path h="2623116" w="534220">
                  <a:moveTo>
                    <a:pt x="0" y="0"/>
                  </a:moveTo>
                  <a:lnTo>
                    <a:pt x="534220" y="0"/>
                  </a:lnTo>
                  <a:lnTo>
                    <a:pt x="534220" y="2623116"/>
                  </a:lnTo>
                  <a:lnTo>
                    <a:pt x="0" y="2623116"/>
                  </a:lnTo>
                  <a:close/>
                </a:path>
              </a:pathLst>
            </a:custGeom>
            <a:gradFill rotWithShape="true">
              <a:gsLst>
                <a:gs pos="0">
                  <a:srgbClr val="EEEEEE">
                    <a:alpha val="100000"/>
                  </a:srgbClr>
                </a:gs>
                <a:gs pos="100000">
                  <a:srgbClr val="EEEEEE">
                    <a:alpha val="0"/>
                  </a:srgbClr>
                </a:gs>
              </a:gsLst>
              <a:lin ang="0"/>
            </a:gradFill>
            <a:ln cap="sq">
              <a:noFill/>
              <a:prstDash val="solid"/>
              <a:miter/>
            </a:ln>
          </p:spPr>
        </p:sp>
        <p:sp>
          <p:nvSpPr>
            <p:cNvPr name="TextBox 6" id="6"/>
            <p:cNvSpPr txBox="true"/>
            <p:nvPr/>
          </p:nvSpPr>
          <p:spPr>
            <a:xfrm>
              <a:off x="0" y="-38100"/>
              <a:ext cx="534220" cy="266121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7" id="7"/>
          <p:cNvSpPr/>
          <p:nvPr/>
        </p:nvSpPr>
        <p:spPr>
          <a:xfrm flipV="true">
            <a:off x="1028700" y="9248775"/>
            <a:ext cx="16230587" cy="9525"/>
          </a:xfrm>
          <a:prstGeom prst="line">
            <a:avLst/>
          </a:prstGeom>
          <a:ln cap="flat" w="19050">
            <a:solidFill>
              <a:srgbClr val="000000"/>
            </a:solidFill>
            <a:prstDash val="solid"/>
            <a:headEnd type="none" len="sm" w="sm"/>
            <a:tailEnd type="none" len="sm" w="sm"/>
          </a:ln>
        </p:spPr>
      </p:sp>
      <p:sp>
        <p:nvSpPr>
          <p:cNvPr name="Freeform 8" id="8"/>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904860" y="7755703"/>
            <a:ext cx="709523" cy="709523"/>
          </a:xfrm>
          <a:custGeom>
            <a:avLst/>
            <a:gdLst/>
            <a:ahLst/>
            <a:cxnLst/>
            <a:rect r="r" b="b" t="t" l="l"/>
            <a:pathLst>
              <a:path h="709523" w="709523">
                <a:moveTo>
                  <a:pt x="0" y="0"/>
                </a:moveTo>
                <a:lnTo>
                  <a:pt x="709523" y="0"/>
                </a:lnTo>
                <a:lnTo>
                  <a:pt x="709523" y="709523"/>
                </a:lnTo>
                <a:lnTo>
                  <a:pt x="0" y="709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28700" y="2294931"/>
            <a:ext cx="12614383" cy="1300387"/>
          </a:xfrm>
          <a:prstGeom prst="rect">
            <a:avLst/>
          </a:prstGeom>
        </p:spPr>
        <p:txBody>
          <a:bodyPr anchor="t" rtlCol="false" tIns="0" lIns="0" bIns="0" rIns="0">
            <a:spAutoFit/>
          </a:bodyPr>
          <a:lstStyle/>
          <a:p>
            <a:pPr algn="l">
              <a:lnSpc>
                <a:spcPts val="10652"/>
              </a:lnSpc>
              <a:spcBef>
                <a:spcPct val="0"/>
              </a:spcBef>
            </a:pPr>
            <a:r>
              <a:rPr lang="en-US" sz="7609">
                <a:solidFill>
                  <a:srgbClr val="000000"/>
                </a:solidFill>
                <a:latin typeface="League Spartan"/>
                <a:ea typeface="League Spartan"/>
                <a:cs typeface="League Spartan"/>
                <a:sym typeface="League Spartan"/>
              </a:rPr>
              <a:t>UI STREAMLIT</a:t>
            </a:r>
          </a:p>
        </p:txBody>
      </p:sp>
      <p:sp>
        <p:nvSpPr>
          <p:cNvPr name="TextBox 11" id="11"/>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12" id="12"/>
          <p:cNvSpPr txBox="true"/>
          <p:nvPr/>
        </p:nvSpPr>
        <p:spPr>
          <a:xfrm rot="0">
            <a:off x="11970219" y="3671672"/>
            <a:ext cx="5289081" cy="3498851"/>
          </a:xfrm>
          <a:prstGeom prst="rect">
            <a:avLst/>
          </a:prstGeom>
        </p:spPr>
        <p:txBody>
          <a:bodyPr anchor="t" rtlCol="false" tIns="0" lIns="0" bIns="0" rIns="0">
            <a:spAutoFit/>
          </a:bodyPr>
          <a:lstStyle/>
          <a:p>
            <a:pPr algn="just">
              <a:lnSpc>
                <a:spcPts val="5599"/>
              </a:lnSpc>
              <a:spcBef>
                <a:spcPct val="0"/>
              </a:spcBef>
            </a:pPr>
            <a:r>
              <a:rPr lang="en-US" b="true" sz="3999">
                <a:solidFill>
                  <a:srgbClr val="000000"/>
                </a:solidFill>
                <a:latin typeface="Canva Sans Bold"/>
                <a:ea typeface="Canva Sans Bold"/>
                <a:cs typeface="Canva Sans Bold"/>
                <a:sym typeface="Canva Sans Bold"/>
              </a:rPr>
              <a:t>Streamlit giúp xây dựng giao diện web trực quan, chia thành các tính năng dễ dàng sử dụng.</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028700" y="9248775"/>
            <a:ext cx="16230587" cy="9525"/>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623566" y="3556871"/>
            <a:ext cx="11038161" cy="5311592"/>
          </a:xfrm>
          <a:custGeom>
            <a:avLst/>
            <a:gdLst/>
            <a:ahLst/>
            <a:cxnLst/>
            <a:rect r="r" b="b" t="t" l="l"/>
            <a:pathLst>
              <a:path h="5311592" w="11038161">
                <a:moveTo>
                  <a:pt x="0" y="0"/>
                </a:moveTo>
                <a:lnTo>
                  <a:pt x="11038161" y="0"/>
                </a:lnTo>
                <a:lnTo>
                  <a:pt x="11038161" y="5311591"/>
                </a:lnTo>
                <a:lnTo>
                  <a:pt x="0" y="5311591"/>
                </a:lnTo>
                <a:lnTo>
                  <a:pt x="0" y="0"/>
                </a:lnTo>
                <a:close/>
              </a:path>
            </a:pathLst>
          </a:custGeom>
          <a:blipFill>
            <a:blip r:embed="rId4"/>
            <a:stretch>
              <a:fillRect l="0" t="-6285" r="-15254" b="-6285"/>
            </a:stretch>
          </a:blipFill>
        </p:spPr>
      </p:sp>
      <p:sp>
        <p:nvSpPr>
          <p:cNvPr name="TextBox 5" id="5"/>
          <p:cNvSpPr txBox="true"/>
          <p:nvPr/>
        </p:nvSpPr>
        <p:spPr>
          <a:xfrm rot="0">
            <a:off x="1028700" y="1374088"/>
            <a:ext cx="7010396" cy="1300362"/>
          </a:xfrm>
          <a:prstGeom prst="rect">
            <a:avLst/>
          </a:prstGeom>
        </p:spPr>
        <p:txBody>
          <a:bodyPr anchor="t" rtlCol="false" tIns="0" lIns="0" bIns="0" rIns="0">
            <a:spAutoFit/>
          </a:bodyPr>
          <a:lstStyle/>
          <a:p>
            <a:pPr algn="l">
              <a:lnSpc>
                <a:spcPts val="10652"/>
              </a:lnSpc>
              <a:spcBef>
                <a:spcPct val="0"/>
              </a:spcBef>
            </a:pPr>
            <a:r>
              <a:rPr lang="en-US" sz="7609">
                <a:solidFill>
                  <a:srgbClr val="000000"/>
                </a:solidFill>
                <a:latin typeface="League Spartan"/>
                <a:ea typeface="League Spartan"/>
                <a:cs typeface="League Spartan"/>
                <a:sym typeface="League Spartan"/>
              </a:rPr>
              <a:t>UI STREAMLIT</a:t>
            </a:r>
          </a:p>
        </p:txBody>
      </p:sp>
      <p:sp>
        <p:nvSpPr>
          <p:cNvPr name="TextBox 6" id="6"/>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7" id="7"/>
          <p:cNvSpPr txBox="true"/>
          <p:nvPr/>
        </p:nvSpPr>
        <p:spPr>
          <a:xfrm rot="0">
            <a:off x="999252" y="2693271"/>
            <a:ext cx="4989909" cy="863600"/>
          </a:xfrm>
          <a:prstGeom prst="rect">
            <a:avLst/>
          </a:prstGeom>
        </p:spPr>
        <p:txBody>
          <a:bodyPr anchor="t" rtlCol="false" tIns="0" lIns="0" bIns="0" rIns="0">
            <a:spAutoFit/>
          </a:bodyPr>
          <a:lstStyle/>
          <a:p>
            <a:pPr algn="l">
              <a:lnSpc>
                <a:spcPts val="7000"/>
              </a:lnSpc>
              <a:spcBef>
                <a:spcPct val="0"/>
              </a:spcBef>
            </a:pPr>
            <a:r>
              <a:rPr lang="en-US" b="true" sz="5000">
                <a:solidFill>
                  <a:srgbClr val="000000"/>
                </a:solidFill>
                <a:latin typeface="Canva Sans Bold"/>
                <a:ea typeface="Canva Sans Bold"/>
                <a:cs typeface="Canva Sans Bold"/>
                <a:sym typeface="Canva Sans Bold"/>
              </a:rPr>
              <a:t>Giao Diện Chính</a:t>
            </a:r>
          </a:p>
        </p:txBody>
      </p:sp>
      <p:sp>
        <p:nvSpPr>
          <p:cNvPr name="TextBox 8" id="8"/>
          <p:cNvSpPr txBox="true"/>
          <p:nvPr/>
        </p:nvSpPr>
        <p:spPr>
          <a:xfrm rot="0">
            <a:off x="999252" y="5095875"/>
            <a:ext cx="5293661" cy="173672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Canva Sans Bold"/>
                <a:ea typeface="Canva Sans Bold"/>
                <a:cs typeface="Canva Sans Bold"/>
                <a:sym typeface="Canva Sans Bold"/>
              </a:rPr>
              <a:t>Giao diện sử dụng theme tối (Dark Mode) hiện đại, tập trung vào tính năng cốt lõi là nhận diện cảm xúc.</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028700" y="9248775"/>
            <a:ext cx="16230587" cy="9525"/>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974259" y="1353923"/>
            <a:ext cx="7170821" cy="7540954"/>
          </a:xfrm>
          <a:custGeom>
            <a:avLst/>
            <a:gdLst/>
            <a:ahLst/>
            <a:cxnLst/>
            <a:rect r="r" b="b" t="t" l="l"/>
            <a:pathLst>
              <a:path h="7540954" w="7170821">
                <a:moveTo>
                  <a:pt x="0" y="0"/>
                </a:moveTo>
                <a:lnTo>
                  <a:pt x="7170820" y="0"/>
                </a:lnTo>
                <a:lnTo>
                  <a:pt x="7170820" y="7540953"/>
                </a:lnTo>
                <a:lnTo>
                  <a:pt x="0" y="7540953"/>
                </a:lnTo>
                <a:lnTo>
                  <a:pt x="0" y="0"/>
                </a:lnTo>
                <a:close/>
              </a:path>
            </a:pathLst>
          </a:custGeom>
          <a:blipFill>
            <a:blip r:embed="rId4"/>
            <a:stretch>
              <a:fillRect l="0" t="0" r="-3443" b="0"/>
            </a:stretch>
          </a:blipFill>
        </p:spPr>
      </p:sp>
      <p:sp>
        <p:nvSpPr>
          <p:cNvPr name="TextBox 5" id="5"/>
          <p:cNvSpPr txBox="true"/>
          <p:nvPr/>
        </p:nvSpPr>
        <p:spPr>
          <a:xfrm rot="0">
            <a:off x="1028700" y="1789863"/>
            <a:ext cx="7010396" cy="1300362"/>
          </a:xfrm>
          <a:prstGeom prst="rect">
            <a:avLst/>
          </a:prstGeom>
        </p:spPr>
        <p:txBody>
          <a:bodyPr anchor="t" rtlCol="false" tIns="0" lIns="0" bIns="0" rIns="0">
            <a:spAutoFit/>
          </a:bodyPr>
          <a:lstStyle/>
          <a:p>
            <a:pPr algn="l">
              <a:lnSpc>
                <a:spcPts val="10652"/>
              </a:lnSpc>
              <a:spcBef>
                <a:spcPct val="0"/>
              </a:spcBef>
            </a:pPr>
            <a:r>
              <a:rPr lang="en-US" sz="7609">
                <a:solidFill>
                  <a:srgbClr val="000000"/>
                </a:solidFill>
                <a:latin typeface="League Spartan"/>
                <a:ea typeface="League Spartan"/>
                <a:cs typeface="League Spartan"/>
                <a:sym typeface="League Spartan"/>
              </a:rPr>
              <a:t>UI STREAMLIT</a:t>
            </a:r>
          </a:p>
        </p:txBody>
      </p:sp>
      <p:sp>
        <p:nvSpPr>
          <p:cNvPr name="TextBox 6" id="6"/>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7" id="7"/>
          <p:cNvSpPr txBox="true"/>
          <p:nvPr/>
        </p:nvSpPr>
        <p:spPr>
          <a:xfrm rot="0">
            <a:off x="1028700" y="3671250"/>
            <a:ext cx="4363208"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Canva Sans Bold"/>
                <a:ea typeface="Canva Sans Bold"/>
                <a:cs typeface="Canva Sans Bold"/>
                <a:sym typeface="Canva Sans Bold"/>
              </a:rPr>
              <a:t>Thanh Cài Đặt</a:t>
            </a:r>
          </a:p>
        </p:txBody>
      </p:sp>
      <p:sp>
        <p:nvSpPr>
          <p:cNvPr name="TextBox 8" id="8"/>
          <p:cNvSpPr txBox="true"/>
          <p:nvPr/>
        </p:nvSpPr>
        <p:spPr>
          <a:xfrm rot="0">
            <a:off x="1028700" y="5979568"/>
            <a:ext cx="7010396" cy="10477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Cho phép người dùng chọn mô hình AI mong muốn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AutoShape 2" id="2"/>
          <p:cNvSpPr/>
          <p:nvPr/>
        </p:nvSpPr>
        <p:spPr>
          <a:xfrm flipV="true">
            <a:off x="1028700" y="9248775"/>
            <a:ext cx="16230587" cy="9525"/>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8033" y="5143500"/>
            <a:ext cx="3005865" cy="1628227"/>
          </a:xfrm>
          <a:custGeom>
            <a:avLst/>
            <a:gdLst/>
            <a:ahLst/>
            <a:cxnLst/>
            <a:rect r="r" b="b" t="t" l="l"/>
            <a:pathLst>
              <a:path h="1628227" w="3005865">
                <a:moveTo>
                  <a:pt x="0" y="0"/>
                </a:moveTo>
                <a:lnTo>
                  <a:pt x="3005865" y="0"/>
                </a:lnTo>
                <a:lnTo>
                  <a:pt x="3005865" y="1628227"/>
                </a:lnTo>
                <a:lnTo>
                  <a:pt x="0" y="1628227"/>
                </a:lnTo>
                <a:lnTo>
                  <a:pt x="0" y="0"/>
                </a:lnTo>
                <a:close/>
              </a:path>
            </a:pathLst>
          </a:custGeom>
          <a:blipFill>
            <a:blip r:embed="rId4"/>
            <a:stretch>
              <a:fillRect l="-10503" t="0" r="0" b="0"/>
            </a:stretch>
          </a:blipFill>
        </p:spPr>
      </p:sp>
      <p:sp>
        <p:nvSpPr>
          <p:cNvPr name="Freeform 5" id="5"/>
          <p:cNvSpPr/>
          <p:nvPr/>
        </p:nvSpPr>
        <p:spPr>
          <a:xfrm flipH="false" flipV="false" rot="0">
            <a:off x="6028304" y="5157414"/>
            <a:ext cx="4232062" cy="1614313"/>
          </a:xfrm>
          <a:custGeom>
            <a:avLst/>
            <a:gdLst/>
            <a:ahLst/>
            <a:cxnLst/>
            <a:rect r="r" b="b" t="t" l="l"/>
            <a:pathLst>
              <a:path h="1614313" w="4232062">
                <a:moveTo>
                  <a:pt x="0" y="0"/>
                </a:moveTo>
                <a:lnTo>
                  <a:pt x="4232063" y="0"/>
                </a:lnTo>
                <a:lnTo>
                  <a:pt x="4232063" y="1614313"/>
                </a:lnTo>
                <a:lnTo>
                  <a:pt x="0" y="1614313"/>
                </a:lnTo>
                <a:lnTo>
                  <a:pt x="0" y="0"/>
                </a:lnTo>
                <a:close/>
              </a:path>
            </a:pathLst>
          </a:custGeom>
          <a:blipFill>
            <a:blip r:embed="rId5"/>
            <a:stretch>
              <a:fillRect l="-7460" t="0" r="-2486" b="0"/>
            </a:stretch>
          </a:blipFill>
        </p:spPr>
      </p:sp>
      <p:sp>
        <p:nvSpPr>
          <p:cNvPr name="Freeform 6" id="6"/>
          <p:cNvSpPr/>
          <p:nvPr/>
        </p:nvSpPr>
        <p:spPr>
          <a:xfrm flipH="false" flipV="false" rot="0">
            <a:off x="11755792" y="5124233"/>
            <a:ext cx="5832128" cy="1647494"/>
          </a:xfrm>
          <a:custGeom>
            <a:avLst/>
            <a:gdLst/>
            <a:ahLst/>
            <a:cxnLst/>
            <a:rect r="r" b="b" t="t" l="l"/>
            <a:pathLst>
              <a:path h="1647494" w="5832128">
                <a:moveTo>
                  <a:pt x="0" y="0"/>
                </a:moveTo>
                <a:lnTo>
                  <a:pt x="5832127" y="0"/>
                </a:lnTo>
                <a:lnTo>
                  <a:pt x="5832127" y="1647494"/>
                </a:lnTo>
                <a:lnTo>
                  <a:pt x="0" y="1647494"/>
                </a:lnTo>
                <a:lnTo>
                  <a:pt x="0" y="0"/>
                </a:lnTo>
                <a:close/>
              </a:path>
            </a:pathLst>
          </a:custGeom>
          <a:blipFill>
            <a:blip r:embed="rId6"/>
            <a:stretch>
              <a:fillRect l="0" t="0" r="0" b="0"/>
            </a:stretch>
          </a:blipFill>
        </p:spPr>
      </p:sp>
      <p:sp>
        <p:nvSpPr>
          <p:cNvPr name="TextBox 7" id="7"/>
          <p:cNvSpPr txBox="true"/>
          <p:nvPr/>
        </p:nvSpPr>
        <p:spPr>
          <a:xfrm rot="0">
            <a:off x="1028700" y="2294931"/>
            <a:ext cx="7010396" cy="1300362"/>
          </a:xfrm>
          <a:prstGeom prst="rect">
            <a:avLst/>
          </a:prstGeom>
        </p:spPr>
        <p:txBody>
          <a:bodyPr anchor="t" rtlCol="false" tIns="0" lIns="0" bIns="0" rIns="0">
            <a:spAutoFit/>
          </a:bodyPr>
          <a:lstStyle/>
          <a:p>
            <a:pPr algn="l">
              <a:lnSpc>
                <a:spcPts val="10652"/>
              </a:lnSpc>
              <a:spcBef>
                <a:spcPct val="0"/>
              </a:spcBef>
            </a:pPr>
            <a:r>
              <a:rPr lang="en-US" sz="7609">
                <a:solidFill>
                  <a:srgbClr val="000000"/>
                </a:solidFill>
                <a:latin typeface="League Spartan"/>
                <a:ea typeface="League Spartan"/>
                <a:cs typeface="League Spartan"/>
                <a:sym typeface="League Spartan"/>
              </a:rPr>
              <a:t>UI STREAMLIT</a:t>
            </a:r>
          </a:p>
        </p:txBody>
      </p:sp>
      <p:sp>
        <p:nvSpPr>
          <p:cNvPr name="TextBox 8" id="8"/>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
        <p:nvSpPr>
          <p:cNvPr name="TextBox 9" id="9"/>
          <p:cNvSpPr txBox="true"/>
          <p:nvPr/>
        </p:nvSpPr>
        <p:spPr>
          <a:xfrm rot="0">
            <a:off x="1028700" y="3764846"/>
            <a:ext cx="440563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Canva Sans Bold"/>
                <a:ea typeface="Canva Sans Bold"/>
                <a:cs typeface="Canva Sans Bold"/>
                <a:sym typeface="Canva Sans Bold"/>
              </a:rPr>
              <a:t>Các Tab Demo</a:t>
            </a:r>
          </a:p>
        </p:txBody>
      </p:sp>
      <p:sp>
        <p:nvSpPr>
          <p:cNvPr name="TextBox 10" id="10"/>
          <p:cNvSpPr txBox="true"/>
          <p:nvPr/>
        </p:nvSpPr>
        <p:spPr>
          <a:xfrm rot="0">
            <a:off x="1528033" y="7238452"/>
            <a:ext cx="3005865"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Phân tích ảnh tĩnh</a:t>
            </a:r>
          </a:p>
        </p:txBody>
      </p:sp>
      <p:sp>
        <p:nvSpPr>
          <p:cNvPr name="TextBox 11" id="11"/>
          <p:cNvSpPr txBox="true"/>
          <p:nvPr/>
        </p:nvSpPr>
        <p:spPr>
          <a:xfrm rot="0">
            <a:off x="6438170" y="7228927"/>
            <a:ext cx="3412331" cy="5143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Canva Sans"/>
                <a:ea typeface="Canva Sans"/>
                <a:cs typeface="Canva Sans"/>
                <a:sym typeface="Canva Sans"/>
              </a:rPr>
              <a:t>Xử lý video theo lô</a:t>
            </a:r>
          </a:p>
        </p:txBody>
      </p:sp>
      <p:sp>
        <p:nvSpPr>
          <p:cNvPr name="TextBox 12" id="12"/>
          <p:cNvSpPr txBox="true"/>
          <p:nvPr/>
        </p:nvSpPr>
        <p:spPr>
          <a:xfrm rot="0">
            <a:off x="11755792" y="7228927"/>
            <a:ext cx="5832128" cy="10477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Canva Sans"/>
                <a:ea typeface="Canva Sans"/>
                <a:cs typeface="Canva Sans"/>
                <a:sym typeface="Canva Sans"/>
              </a:rPr>
              <a:t>Phân tích trực tiếp (sử dụng streamlit-webrtc)</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70632" y="4373563"/>
            <a:ext cx="9167692" cy="1377949"/>
          </a:xfrm>
          <a:prstGeom prst="rect">
            <a:avLst/>
          </a:prstGeom>
        </p:spPr>
        <p:txBody>
          <a:bodyPr anchor="t" rtlCol="false" tIns="0" lIns="0" bIns="0" rIns="0">
            <a:spAutoFit/>
          </a:bodyPr>
          <a:lstStyle/>
          <a:p>
            <a:pPr algn="l">
              <a:lnSpc>
                <a:spcPts val="11200"/>
              </a:lnSpc>
              <a:spcBef>
                <a:spcPct val="0"/>
              </a:spcBef>
            </a:pPr>
            <a:r>
              <a:rPr lang="en-US" sz="8000">
                <a:solidFill>
                  <a:srgbClr val="000000"/>
                </a:solidFill>
                <a:latin typeface="League Spartan"/>
                <a:ea typeface="League Spartan"/>
                <a:cs typeface="League Spartan"/>
                <a:sym typeface="League Spartan"/>
              </a:rPr>
              <a:t>DEMO SẢN PHẨM</a:t>
            </a:r>
          </a:p>
        </p:txBody>
      </p:sp>
      <p:sp>
        <p:nvSpPr>
          <p:cNvPr name="TextBox 4" id="4"/>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17462" y="1028700"/>
            <a:ext cx="5205891" cy="8842278"/>
          </a:xfrm>
          <a:custGeom>
            <a:avLst/>
            <a:gdLst/>
            <a:ahLst/>
            <a:cxnLst/>
            <a:rect r="r" b="b" t="t" l="l"/>
            <a:pathLst>
              <a:path h="8842278" w="5205891">
                <a:moveTo>
                  <a:pt x="0" y="0"/>
                </a:moveTo>
                <a:lnTo>
                  <a:pt x="5205892" y="0"/>
                </a:lnTo>
                <a:lnTo>
                  <a:pt x="5205892" y="8842278"/>
                </a:lnTo>
                <a:lnTo>
                  <a:pt x="0" y="8842278"/>
                </a:lnTo>
                <a:lnTo>
                  <a:pt x="0" y="0"/>
                </a:lnTo>
                <a:close/>
              </a:path>
            </a:pathLst>
          </a:custGeom>
          <a:blipFill>
            <a:blip r:embed="rId4"/>
            <a:stretch>
              <a:fillRect l="0" t="0" r="0" b="0"/>
            </a:stretch>
          </a:blipFill>
        </p:spPr>
      </p:sp>
      <p:sp>
        <p:nvSpPr>
          <p:cNvPr name="TextBox 4" id="4"/>
          <p:cNvSpPr txBox="true"/>
          <p:nvPr/>
        </p:nvSpPr>
        <p:spPr>
          <a:xfrm rot="0">
            <a:off x="818222" y="544513"/>
            <a:ext cx="10299013" cy="863600"/>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League Spartan"/>
                <a:ea typeface="League Spartan"/>
                <a:cs typeface="League Spartan"/>
                <a:sym typeface="League Spartan"/>
              </a:rPr>
              <a:t>Demo 1: Phân tích ảnh tĩnh</a:t>
            </a:r>
          </a:p>
        </p:txBody>
      </p:sp>
      <p:sp>
        <p:nvSpPr>
          <p:cNvPr name="TextBox 5" id="5"/>
          <p:cNvSpPr txBox="true"/>
          <p:nvPr/>
        </p:nvSpPr>
        <p:spPr>
          <a:xfrm rot="0">
            <a:off x="818222" y="2204413"/>
            <a:ext cx="8702552" cy="10477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Mục tiêu: Kiểm tra độ chính xác và tốc độ xử lý ảnh đơn lẻ.</a:t>
            </a:r>
          </a:p>
        </p:txBody>
      </p:sp>
      <p:sp>
        <p:nvSpPr>
          <p:cNvPr name="TextBox 6" id="6"/>
          <p:cNvSpPr txBox="true"/>
          <p:nvPr/>
        </p:nvSpPr>
        <p:spPr>
          <a:xfrm rot="0">
            <a:off x="818222" y="4791311"/>
            <a:ext cx="7311012" cy="5143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Người dùng tải ảnh lên tab "Ảnh Tĩnh".</a:t>
            </a:r>
          </a:p>
        </p:txBody>
      </p:sp>
      <p:sp>
        <p:nvSpPr>
          <p:cNvPr name="TextBox 7" id="7"/>
          <p:cNvSpPr txBox="true"/>
          <p:nvPr/>
        </p:nvSpPr>
        <p:spPr>
          <a:xfrm rot="0">
            <a:off x="818222" y="6848711"/>
            <a:ext cx="8702552" cy="10477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Nhấn nút Phân tích Cảm xúc (gọi API FastAPI: /predict).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03694" y="1408112"/>
            <a:ext cx="6035390" cy="8485610"/>
          </a:xfrm>
          <a:custGeom>
            <a:avLst/>
            <a:gdLst/>
            <a:ahLst/>
            <a:cxnLst/>
            <a:rect r="r" b="b" t="t" l="l"/>
            <a:pathLst>
              <a:path h="8485610" w="6035390">
                <a:moveTo>
                  <a:pt x="0" y="0"/>
                </a:moveTo>
                <a:lnTo>
                  <a:pt x="6035390" y="0"/>
                </a:lnTo>
                <a:lnTo>
                  <a:pt x="6035390" y="8485611"/>
                </a:lnTo>
                <a:lnTo>
                  <a:pt x="0" y="8485611"/>
                </a:lnTo>
                <a:lnTo>
                  <a:pt x="0" y="0"/>
                </a:lnTo>
                <a:close/>
              </a:path>
            </a:pathLst>
          </a:custGeom>
          <a:blipFill>
            <a:blip r:embed="rId4"/>
            <a:stretch>
              <a:fillRect l="0" t="0" r="0" b="0"/>
            </a:stretch>
          </a:blipFill>
        </p:spPr>
      </p:sp>
      <p:sp>
        <p:nvSpPr>
          <p:cNvPr name="TextBox 4" id="4"/>
          <p:cNvSpPr txBox="true"/>
          <p:nvPr/>
        </p:nvSpPr>
        <p:spPr>
          <a:xfrm rot="0">
            <a:off x="818222" y="544513"/>
            <a:ext cx="10299013" cy="863600"/>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League Spartan"/>
                <a:ea typeface="League Spartan"/>
                <a:cs typeface="League Spartan"/>
                <a:sym typeface="League Spartan"/>
              </a:rPr>
              <a:t>Demo 1: Phân tích ảnh tĩnh</a:t>
            </a:r>
          </a:p>
        </p:txBody>
      </p:sp>
      <p:sp>
        <p:nvSpPr>
          <p:cNvPr name="TextBox 5" id="5"/>
          <p:cNvSpPr txBox="true"/>
          <p:nvPr/>
        </p:nvSpPr>
        <p:spPr>
          <a:xfrm rot="0">
            <a:off x="818222" y="3642273"/>
            <a:ext cx="8524448" cy="34988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Canva Sans Bold"/>
                <a:ea typeface="Canva Sans Bold"/>
                <a:cs typeface="Canva Sans Bold"/>
                <a:sym typeface="Canva Sans Bold"/>
              </a:rPr>
              <a:t>Kết quả: Hệ thống nhận diện khuôn mặt, trả về nhãn cảm xúc (happy) và độ tin cậy cao (99%), đồng thời vẽ Bounding Box màu xanh quanh khuôn mặt.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0308386" y="1618591"/>
            <a:ext cx="7143120" cy="8441869"/>
          </a:xfrm>
          <a:custGeom>
            <a:avLst/>
            <a:gdLst/>
            <a:ahLst/>
            <a:cxnLst/>
            <a:rect r="r" b="b" t="t" l="l"/>
            <a:pathLst>
              <a:path h="8441869" w="7143120">
                <a:moveTo>
                  <a:pt x="0" y="0"/>
                </a:moveTo>
                <a:lnTo>
                  <a:pt x="7143121" y="0"/>
                </a:lnTo>
                <a:lnTo>
                  <a:pt x="7143121" y="8441869"/>
                </a:lnTo>
                <a:lnTo>
                  <a:pt x="0" y="8441869"/>
                </a:lnTo>
                <a:lnTo>
                  <a:pt x="0" y="0"/>
                </a:lnTo>
                <a:close/>
              </a:path>
            </a:pathLst>
          </a:custGeom>
          <a:blipFill>
            <a:blip r:embed="rId2"/>
            <a:stretch>
              <a:fillRect l="0" t="0" r="0" b="0"/>
            </a:stretch>
          </a:blipFill>
        </p:spPr>
      </p:sp>
      <p:sp>
        <p:nvSpPr>
          <p:cNvPr name="TextBox 3" id="3"/>
          <p:cNvSpPr txBox="true"/>
          <p:nvPr/>
        </p:nvSpPr>
        <p:spPr>
          <a:xfrm rot="0">
            <a:off x="818222" y="544513"/>
            <a:ext cx="13640357" cy="863600"/>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League Spartan"/>
                <a:ea typeface="League Spartan"/>
                <a:cs typeface="League Spartan"/>
                <a:sym typeface="League Spartan"/>
              </a:rPr>
              <a:t>Demo 2: Xử Lý Video (Frame-by-Frame)</a:t>
            </a:r>
          </a:p>
        </p:txBody>
      </p:sp>
      <p:sp>
        <p:nvSpPr>
          <p:cNvPr name="TextBox 4" id="4"/>
          <p:cNvSpPr txBox="true"/>
          <p:nvPr/>
        </p:nvSpPr>
        <p:spPr>
          <a:xfrm rot="0">
            <a:off x="818222" y="1806164"/>
            <a:ext cx="8963969" cy="15811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Mục tiêu: Chứng minh khả năng xử lý video dài (Batch Processing) và theo dõi cảm xúc theo thời gian.</a:t>
            </a:r>
          </a:p>
        </p:txBody>
      </p:sp>
      <p:sp>
        <p:nvSpPr>
          <p:cNvPr name="TextBox 5" id="5"/>
          <p:cNvSpPr txBox="true"/>
          <p:nvPr/>
        </p:nvSpPr>
        <p:spPr>
          <a:xfrm rot="0">
            <a:off x="818222" y="4080020"/>
            <a:ext cx="7640349" cy="5143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Người dùng tải video lên tab "Video File".</a:t>
            </a:r>
          </a:p>
        </p:txBody>
      </p:sp>
      <p:sp>
        <p:nvSpPr>
          <p:cNvPr name="TextBox 6" id="6"/>
          <p:cNvSpPr txBox="true"/>
          <p:nvPr/>
        </p:nvSpPr>
        <p:spPr>
          <a:xfrm rot="0">
            <a:off x="818222" y="5550173"/>
            <a:ext cx="9270317" cy="10477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Nhấn "Bắt đầu xử lý video" (gọi API FastAPI: /video_upload).</a:t>
            </a:r>
          </a:p>
        </p:txBody>
      </p:sp>
      <p:sp>
        <p:nvSpPr>
          <p:cNvPr name="TextBox 7" id="7"/>
          <p:cNvSpPr txBox="true"/>
          <p:nvPr/>
        </p:nvSpPr>
        <p:spPr>
          <a:xfrm rot="0">
            <a:off x="818222" y="7677150"/>
            <a:ext cx="8561284" cy="15811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Backend (FastAPI) sẽ tách từng khung hình, áp dụng YOLOv11 để nhận diện, và ghép lại thành video mới.</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1600216"/>
            <a:ext cx="8405246" cy="2309429"/>
          </a:xfrm>
          <a:custGeom>
            <a:avLst/>
            <a:gdLst/>
            <a:ahLst/>
            <a:cxnLst/>
            <a:rect r="r" b="b" t="t" l="l"/>
            <a:pathLst>
              <a:path h="2309429" w="8405246">
                <a:moveTo>
                  <a:pt x="0" y="0"/>
                </a:moveTo>
                <a:lnTo>
                  <a:pt x="8405246" y="0"/>
                </a:lnTo>
                <a:lnTo>
                  <a:pt x="8405246" y="2309429"/>
                </a:lnTo>
                <a:lnTo>
                  <a:pt x="0" y="2309429"/>
                </a:lnTo>
                <a:lnTo>
                  <a:pt x="0" y="0"/>
                </a:lnTo>
                <a:close/>
              </a:path>
            </a:pathLst>
          </a:custGeom>
          <a:blipFill>
            <a:blip r:embed="rId2"/>
            <a:stretch>
              <a:fillRect l="0" t="0" r="0" b="0"/>
            </a:stretch>
          </a:blipFill>
        </p:spPr>
      </p:sp>
      <p:sp>
        <p:nvSpPr>
          <p:cNvPr name="Freeform 3" id="3"/>
          <p:cNvSpPr/>
          <p:nvPr/>
        </p:nvSpPr>
        <p:spPr>
          <a:xfrm flipH="false" flipV="false" rot="0">
            <a:off x="411630" y="1600216"/>
            <a:ext cx="8392120" cy="8315530"/>
          </a:xfrm>
          <a:custGeom>
            <a:avLst/>
            <a:gdLst/>
            <a:ahLst/>
            <a:cxnLst/>
            <a:rect r="r" b="b" t="t" l="l"/>
            <a:pathLst>
              <a:path h="8315530" w="8392120">
                <a:moveTo>
                  <a:pt x="0" y="0"/>
                </a:moveTo>
                <a:lnTo>
                  <a:pt x="8392120" y="0"/>
                </a:lnTo>
                <a:lnTo>
                  <a:pt x="8392120" y="8315530"/>
                </a:lnTo>
                <a:lnTo>
                  <a:pt x="0" y="8315530"/>
                </a:lnTo>
                <a:lnTo>
                  <a:pt x="0" y="0"/>
                </a:lnTo>
                <a:close/>
              </a:path>
            </a:pathLst>
          </a:custGeom>
          <a:blipFill>
            <a:blip r:embed="rId3"/>
            <a:stretch>
              <a:fillRect l="0" t="0" r="0" b="0"/>
            </a:stretch>
          </a:blipFill>
        </p:spPr>
      </p:sp>
      <p:sp>
        <p:nvSpPr>
          <p:cNvPr name="TextBox 4" id="4"/>
          <p:cNvSpPr txBox="true"/>
          <p:nvPr/>
        </p:nvSpPr>
        <p:spPr>
          <a:xfrm rot="0">
            <a:off x="818222" y="544513"/>
            <a:ext cx="13640357" cy="863600"/>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League Spartan"/>
                <a:ea typeface="League Spartan"/>
                <a:cs typeface="League Spartan"/>
                <a:sym typeface="League Spartan"/>
              </a:rPr>
              <a:t>Demo 2: Xử Lý Video (Frame-by-Frame)</a:t>
            </a:r>
          </a:p>
        </p:txBody>
      </p:sp>
      <p:sp>
        <p:nvSpPr>
          <p:cNvPr name="TextBox 5" id="5"/>
          <p:cNvSpPr txBox="true"/>
          <p:nvPr/>
        </p:nvSpPr>
        <p:spPr>
          <a:xfrm rot="0">
            <a:off x="9144000" y="5875644"/>
            <a:ext cx="8405246" cy="2114550"/>
          </a:xfrm>
          <a:prstGeom prst="rect">
            <a:avLst/>
          </a:prstGeom>
        </p:spPr>
        <p:txBody>
          <a:bodyPr anchor="t" rtlCol="false" tIns="0" lIns="0" bIns="0" rIns="0">
            <a:spAutoFit/>
          </a:bodyPr>
          <a:lstStyle/>
          <a:p>
            <a:pPr algn="just">
              <a:lnSpc>
                <a:spcPts val="4200"/>
              </a:lnSpc>
              <a:spcBef>
                <a:spcPct val="0"/>
              </a:spcBef>
            </a:pPr>
            <a:r>
              <a:rPr lang="en-US" b="true" sz="3000">
                <a:solidFill>
                  <a:srgbClr val="000000"/>
                </a:solidFill>
                <a:latin typeface="Canva Sans Bold"/>
                <a:ea typeface="Canva Sans Bold"/>
                <a:cs typeface="Canva Sans Bold"/>
                <a:sym typeface="Canva Sans Bold"/>
              </a:rPr>
              <a:t>Kết quả: Sau khi xử lý thành công, người dùng có thể Tải video kết quả (gọi API FastAPI: /video_stream/{uid}) để xem các box cảm xúc đã được vẽ trên video.</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283575" y="2353502"/>
            <a:ext cx="11301259" cy="5579997"/>
          </a:xfrm>
          <a:custGeom>
            <a:avLst/>
            <a:gdLst/>
            <a:ahLst/>
            <a:cxnLst/>
            <a:rect r="r" b="b" t="t" l="l"/>
            <a:pathLst>
              <a:path h="5579997" w="11301259">
                <a:moveTo>
                  <a:pt x="0" y="0"/>
                </a:moveTo>
                <a:lnTo>
                  <a:pt x="11301259" y="0"/>
                </a:lnTo>
                <a:lnTo>
                  <a:pt x="11301259" y="5579996"/>
                </a:lnTo>
                <a:lnTo>
                  <a:pt x="0" y="5579996"/>
                </a:lnTo>
                <a:lnTo>
                  <a:pt x="0" y="0"/>
                </a:lnTo>
                <a:close/>
              </a:path>
            </a:pathLst>
          </a:custGeom>
          <a:blipFill>
            <a:blip r:embed="rId2"/>
            <a:stretch>
              <a:fillRect l="0" t="0" r="0" b="0"/>
            </a:stretch>
          </a:blipFill>
        </p:spPr>
      </p:sp>
      <p:sp>
        <p:nvSpPr>
          <p:cNvPr name="TextBox 3" id="3"/>
          <p:cNvSpPr txBox="true"/>
          <p:nvPr/>
        </p:nvSpPr>
        <p:spPr>
          <a:xfrm rot="0">
            <a:off x="818222" y="544513"/>
            <a:ext cx="8904594" cy="863600"/>
          </a:xfrm>
          <a:prstGeom prst="rect">
            <a:avLst/>
          </a:prstGeom>
        </p:spPr>
        <p:txBody>
          <a:bodyPr anchor="t" rtlCol="false" tIns="0" lIns="0" bIns="0" rIns="0">
            <a:spAutoFit/>
          </a:bodyPr>
          <a:lstStyle/>
          <a:p>
            <a:pPr algn="l">
              <a:lnSpc>
                <a:spcPts val="7000"/>
              </a:lnSpc>
              <a:spcBef>
                <a:spcPct val="0"/>
              </a:spcBef>
            </a:pPr>
            <a:r>
              <a:rPr lang="en-US" sz="5000">
                <a:solidFill>
                  <a:srgbClr val="000000"/>
                </a:solidFill>
                <a:latin typeface="League Spartan"/>
                <a:ea typeface="League Spartan"/>
                <a:cs typeface="League Spartan"/>
                <a:sym typeface="League Spartan"/>
              </a:rPr>
              <a:t>Demo 3: Webcam Realtime</a:t>
            </a:r>
          </a:p>
        </p:txBody>
      </p:sp>
      <p:sp>
        <p:nvSpPr>
          <p:cNvPr name="TextBox 4" id="4"/>
          <p:cNvSpPr txBox="true"/>
          <p:nvPr/>
        </p:nvSpPr>
        <p:spPr>
          <a:xfrm rot="0">
            <a:off x="12103467" y="2305877"/>
            <a:ext cx="5815235" cy="6146166"/>
          </a:xfrm>
          <a:prstGeom prst="rect">
            <a:avLst/>
          </a:prstGeom>
        </p:spPr>
        <p:txBody>
          <a:bodyPr anchor="t" rtlCol="false" tIns="0" lIns="0" bIns="0" rIns="0">
            <a:spAutoFit/>
          </a:bodyPr>
          <a:lstStyle/>
          <a:p>
            <a:pPr algn="l">
              <a:lnSpc>
                <a:spcPts val="4059"/>
              </a:lnSpc>
              <a:spcBef>
                <a:spcPct val="0"/>
              </a:spcBef>
            </a:pPr>
            <a:r>
              <a:rPr lang="en-US" b="true" sz="2899">
                <a:solidFill>
                  <a:srgbClr val="000000"/>
                </a:solidFill>
                <a:latin typeface="League Spartan"/>
                <a:ea typeface="League Spartan"/>
                <a:cs typeface="League Spartan"/>
                <a:sym typeface="League Spartan"/>
              </a:rPr>
              <a:t>Luồng hoạt động:</a:t>
            </a:r>
          </a:p>
          <a:p>
            <a:pPr algn="l" marL="626106" indent="-313053" lvl="1">
              <a:lnSpc>
                <a:spcPts val="4059"/>
              </a:lnSpc>
              <a:buFont typeface="Arial"/>
              <a:buChar char="•"/>
            </a:pPr>
            <a:r>
              <a:rPr lang="en-US" b="true" sz="2899">
                <a:solidFill>
                  <a:srgbClr val="000000"/>
                </a:solidFill>
                <a:latin typeface="League Spartan"/>
                <a:ea typeface="League Spartan"/>
                <a:cs typeface="League Spartan"/>
                <a:sym typeface="League Spartan"/>
              </a:rPr>
              <a:t>Trong tab "Webcam Live", hệ thống kích hoạt camera.</a:t>
            </a:r>
          </a:p>
          <a:p>
            <a:pPr algn="l" marL="626106" indent="-313053" lvl="1">
              <a:lnSpc>
                <a:spcPts val="4059"/>
              </a:lnSpc>
              <a:buFont typeface="Arial"/>
              <a:buChar char="•"/>
            </a:pPr>
            <a:r>
              <a:rPr lang="en-US" b="true" sz="2899">
                <a:solidFill>
                  <a:srgbClr val="000000"/>
                </a:solidFill>
                <a:latin typeface="League Spartan"/>
                <a:ea typeface="League Spartan"/>
                <a:cs typeface="League Spartan"/>
                <a:sym typeface="League Spartan"/>
              </a:rPr>
              <a:t>Mô hình AI (YOLOv11) được chạy trực tiếp ở phía Client (trình duyệt) thông qua streamlit-webrtc.</a:t>
            </a:r>
          </a:p>
          <a:p>
            <a:pPr algn="l" marL="626106" indent="-313053" lvl="1">
              <a:lnSpc>
                <a:spcPts val="4059"/>
              </a:lnSpc>
              <a:buFont typeface="Arial"/>
              <a:buChar char="•"/>
            </a:pPr>
            <a:r>
              <a:rPr lang="en-US" b="true" sz="2899">
                <a:solidFill>
                  <a:srgbClr val="000000"/>
                </a:solidFill>
                <a:latin typeface="League Spartan"/>
                <a:ea typeface="League Spartan"/>
                <a:cs typeface="League Spartan"/>
                <a:sym typeface="League Spartan"/>
              </a:rPr>
              <a:t>Kết quả: Nhận diện và vẽ box cảm xúc thay đổi theo khuôn mặt người dùng ngay lập tức (tốc độ cao 30-60 FPS).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5400000">
            <a:off x="13202221" y="3025581"/>
            <a:ext cx="826575" cy="7425208"/>
            <a:chOff x="0" y="0"/>
            <a:chExt cx="217699" cy="1955610"/>
          </a:xfrm>
        </p:grpSpPr>
        <p:sp>
          <p:nvSpPr>
            <p:cNvPr name="Freeform 3" id="3"/>
            <p:cNvSpPr/>
            <p:nvPr/>
          </p:nvSpPr>
          <p:spPr>
            <a:xfrm flipH="false" flipV="false" rot="0">
              <a:off x="0" y="0"/>
              <a:ext cx="217699" cy="1955610"/>
            </a:xfrm>
            <a:custGeom>
              <a:avLst/>
              <a:gdLst/>
              <a:ahLst/>
              <a:cxnLst/>
              <a:rect r="r" b="b" t="t" l="l"/>
              <a:pathLst>
                <a:path h="1955610" w="217699">
                  <a:moveTo>
                    <a:pt x="0" y="0"/>
                  </a:moveTo>
                  <a:lnTo>
                    <a:pt x="217699" y="0"/>
                  </a:lnTo>
                  <a:lnTo>
                    <a:pt x="217699" y="1955610"/>
                  </a:lnTo>
                  <a:lnTo>
                    <a:pt x="0" y="1955610"/>
                  </a:lnTo>
                  <a:close/>
                </a:path>
              </a:pathLst>
            </a:custGeom>
            <a:gradFill rotWithShape="true">
              <a:gsLst>
                <a:gs pos="0">
                  <a:srgbClr val="EEEEEE">
                    <a:alpha val="100000"/>
                  </a:srgbClr>
                </a:gs>
                <a:gs pos="100000">
                  <a:srgbClr val="EEEEEE">
                    <a:alpha val="0"/>
                  </a:srgbClr>
                </a:gs>
              </a:gsLst>
              <a:lin ang="0"/>
            </a:gradFill>
            <a:ln cap="sq">
              <a:noFill/>
              <a:prstDash val="solid"/>
              <a:miter/>
            </a:ln>
          </p:spPr>
        </p:sp>
        <p:sp>
          <p:nvSpPr>
            <p:cNvPr name="TextBox 4" id="4"/>
            <p:cNvSpPr txBox="true"/>
            <p:nvPr/>
          </p:nvSpPr>
          <p:spPr>
            <a:xfrm>
              <a:off x="0" y="-38100"/>
              <a:ext cx="217699" cy="19937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6695975" y="1028700"/>
            <a:ext cx="563325" cy="650446"/>
          </a:xfrm>
          <a:custGeom>
            <a:avLst/>
            <a:gdLst/>
            <a:ahLst/>
            <a:cxnLst/>
            <a:rect r="r" b="b" t="t" l="l"/>
            <a:pathLst>
              <a:path h="650446" w="563325">
                <a:moveTo>
                  <a:pt x="0" y="0"/>
                </a:moveTo>
                <a:lnTo>
                  <a:pt x="563325" y="0"/>
                </a:lnTo>
                <a:lnTo>
                  <a:pt x="563325" y="650446"/>
                </a:lnTo>
                <a:lnTo>
                  <a:pt x="0" y="650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673831" y="3552714"/>
            <a:ext cx="12940337" cy="2867247"/>
          </a:xfrm>
          <a:prstGeom prst="rect">
            <a:avLst/>
          </a:prstGeom>
        </p:spPr>
        <p:txBody>
          <a:bodyPr anchor="t" rtlCol="false" tIns="0" lIns="0" bIns="0" rIns="0">
            <a:spAutoFit/>
          </a:bodyPr>
          <a:lstStyle/>
          <a:p>
            <a:pPr algn="l">
              <a:lnSpc>
                <a:spcPts val="23495"/>
              </a:lnSpc>
              <a:spcBef>
                <a:spcPct val="0"/>
              </a:spcBef>
            </a:pPr>
            <a:r>
              <a:rPr lang="en-US" sz="16782">
                <a:solidFill>
                  <a:srgbClr val="000000"/>
                </a:solidFill>
                <a:latin typeface="League Spartan"/>
                <a:ea typeface="League Spartan"/>
                <a:cs typeface="League Spartan"/>
                <a:sym typeface="League Spartan"/>
              </a:rPr>
              <a:t>Thank You</a:t>
            </a:r>
          </a:p>
        </p:txBody>
      </p:sp>
      <p:sp>
        <p:nvSpPr>
          <p:cNvPr name="TextBox 7" id="7"/>
          <p:cNvSpPr txBox="true"/>
          <p:nvPr/>
        </p:nvSpPr>
        <p:spPr>
          <a:xfrm rot="0">
            <a:off x="1028700" y="1009650"/>
            <a:ext cx="2617383" cy="238092"/>
          </a:xfrm>
          <a:prstGeom prst="rect">
            <a:avLst/>
          </a:prstGeom>
        </p:spPr>
        <p:txBody>
          <a:bodyPr anchor="t" rtlCol="false" tIns="0" lIns="0" bIns="0" rIns="0">
            <a:spAutoFit/>
          </a:bodyPr>
          <a:lstStyle/>
          <a:p>
            <a:pPr algn="l">
              <a:lnSpc>
                <a:spcPts val="2099"/>
              </a:lnSpc>
              <a:spcBef>
                <a:spcPct val="0"/>
              </a:spcBef>
            </a:pPr>
            <a:r>
              <a:rPr lang="en-US" b="true" sz="1499">
                <a:solidFill>
                  <a:srgbClr val="000000"/>
                </a:solidFill>
                <a:latin typeface="Canva Sans Bold"/>
                <a:ea typeface="Canva Sans Bold"/>
                <a:cs typeface="Canva Sans Bold"/>
                <a:sym typeface="Canva Sans Bold"/>
              </a:rPr>
              <a:t>Timme</a:t>
            </a:r>
            <a:r>
              <a:rPr lang="en-US" b="true" sz="1499">
                <a:solidFill>
                  <a:srgbClr val="000000"/>
                </a:solidFill>
                <a:latin typeface="Canva Sans Bold"/>
                <a:ea typeface="Canva Sans Bold"/>
                <a:cs typeface="Canva Sans Bold"/>
                <a:sym typeface="Canva Sans Bold"/>
              </a:rPr>
              <a:t>rman Industries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DAG6oWGLqtM</dc:identifier>
  <dcterms:modified xsi:type="dcterms:W3CDTF">2011-08-01T06:04:30Z</dcterms:modified>
  <cp:revision>1</cp:revision>
  <dc:title>Facial Expression Recognition</dc:title>
</cp:coreProperties>
</file>